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874" r:id="rId5"/>
  </p:sldIdLst>
  <p:sldSz cx="10045700" cy="7524750"/>
  <p:notesSz cx="6797675" cy="9926638"/>
  <p:custDataLst>
    <p:tags r:id="rId8"/>
  </p:custDataLst>
  <p:defaultTextStyle>
    <a:defPPr>
      <a:defRPr lang="en-US"/>
    </a:defPPr>
    <a:lvl1pPr marL="0" algn="l" defTabSz="95838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9191" algn="l" defTabSz="95838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8383" algn="l" defTabSz="95838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7574" algn="l" defTabSz="95838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6765" algn="l" defTabSz="95838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5957" algn="l" defTabSz="95838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5148" algn="l" defTabSz="95838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4339" algn="l" defTabSz="95838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3531" algn="l" defTabSz="958383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566147-E62A-45A4-9A09-F541C1DDE7F5}">
          <p14:sldIdLst>
            <p14:sldId id="3874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987" userDrawn="1">
          <p15:clr>
            <a:srgbClr val="A4A3A4"/>
          </p15:clr>
        </p15:guide>
        <p15:guide id="4" orient="horz" pos="2330" userDrawn="1">
          <p15:clr>
            <a:srgbClr val="A4A3A4"/>
          </p15:clr>
        </p15:guide>
        <p15:guide id="5" orient="horz" pos="3708" userDrawn="1">
          <p15:clr>
            <a:srgbClr val="A4A3A4"/>
          </p15:clr>
        </p15:guide>
        <p15:guide id="6" pos="31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 userDrawn="1">
          <p15:clr>
            <a:srgbClr val="A4A3A4"/>
          </p15:clr>
        </p15:guide>
        <p15:guide id="2" pos="212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96A303-DB7C-09A7-5974-3DCD725DF5BB}" name="Patel, Varsha" initials="PV" userId="S::varsha.patel@eightroadsvc.com::1786d59f-5745-4ebc-a908-7dfd2ea1fc4b" providerId="AD"/>
  <p188:author id="{9C98D861-2F59-5BC8-C487-75751E962E48}" name="Ansari, Aqil" initials="AA" userId="S::aqil.ansari@eightroadsvc.com::dca82add-72b2-4793-9442-4fe529ce69be" providerId="AD"/>
  <p188:author id="{17C75A66-6BB2-0E7B-6580-F891ACE337FD}" name="Salesse, Laura" initials="SL" userId="S::laura.salesse@eightroadsvc.com::7f635b3a-7eb6-4099-8b9a-4c298d2e84a4" providerId="AD"/>
  <p188:author id="{CC0C24D4-2760-A9D8-701F-49CD3822AFAF}" name="Balsys, Vytas" initials="BV" userId="S::vytautas.balsys@eightroadsvc.com::3ed4b8c1-309d-4c99-9c22-b6a9e302f0c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el, Varsha" initials="PV" lastIdx="15" clrIdx="0">
    <p:extLst>
      <p:ext uri="{19B8F6BF-5375-455C-9EA6-DF929625EA0E}">
        <p15:presenceInfo xmlns:p15="http://schemas.microsoft.com/office/powerpoint/2012/main" userId="S::varsha.patel@eightroads.com::ac137f70-04e3-4532-8b5b-5bd311524afb" providerId="AD"/>
      </p:ext>
    </p:extLst>
  </p:cmAuthor>
  <p:cmAuthor id="2" name="Eastgate, Jack" initials="EJ" lastIdx="22" clrIdx="1">
    <p:extLst>
      <p:ext uri="{19B8F6BF-5375-455C-9EA6-DF929625EA0E}">
        <p15:presenceInfo xmlns:p15="http://schemas.microsoft.com/office/powerpoint/2012/main" userId="S::jack.eastgate@eightroads.com::59b09066-9904-4cb8-8147-7193feb4fa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C59"/>
    <a:srgbClr val="CCFFCC"/>
    <a:srgbClr val="FFFFCC"/>
    <a:srgbClr val="707372"/>
    <a:srgbClr val="FE5000"/>
    <a:srgbClr val="FFEEDE"/>
    <a:srgbClr val="AD4C45"/>
    <a:srgbClr val="A2978A"/>
    <a:srgbClr val="ABE3F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1657" autoAdjust="0"/>
  </p:normalViewPr>
  <p:slideViewPr>
    <p:cSldViewPr snapToGrid="0">
      <p:cViewPr>
        <p:scale>
          <a:sx n="150" d="100"/>
          <a:sy n="150" d="100"/>
        </p:scale>
        <p:origin x="4146" y="-102"/>
      </p:cViewPr>
      <p:guideLst>
        <p:guide orient="horz" pos="987"/>
        <p:guide orient="horz" pos="2330"/>
        <p:guide orient="horz" pos="3708"/>
        <p:guide pos="31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8081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07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ari, Aqil" userId="dca82add-72b2-4793-9442-4fe529ce69be" providerId="ADAL" clId="{CEFAE90F-D9F0-4B70-B8A8-839E581EDF4C}"/>
    <pc:docChg chg="undo custSel modSld">
      <pc:chgData name="Ansari, Aqil" userId="dca82add-72b2-4793-9442-4fe529ce69be" providerId="ADAL" clId="{CEFAE90F-D9F0-4B70-B8A8-839E581EDF4C}" dt="2026-01-22T09:38:02.422" v="156" actId="20577"/>
      <pc:docMkLst>
        <pc:docMk/>
      </pc:docMkLst>
      <pc:sldChg chg="delSp modSp mod">
        <pc:chgData name="Ansari, Aqil" userId="dca82add-72b2-4793-9442-4fe529ce69be" providerId="ADAL" clId="{CEFAE90F-D9F0-4B70-B8A8-839E581EDF4C}" dt="2026-01-22T09:38:02.422" v="156" actId="20577"/>
        <pc:sldMkLst>
          <pc:docMk/>
          <pc:sldMk cId="1207869563" sldId="3874"/>
        </pc:sldMkLst>
        <pc:spChg chg="del">
          <ac:chgData name="Ansari, Aqil" userId="dca82add-72b2-4793-9442-4fe529ce69be" providerId="ADAL" clId="{CEFAE90F-D9F0-4B70-B8A8-839E581EDF4C}" dt="2026-01-22T09:27:38.915" v="129" actId="478"/>
          <ac:spMkLst>
            <pc:docMk/>
            <pc:sldMk cId="1207869563" sldId="3874"/>
            <ac:spMk id="2" creationId="{B215E06E-C225-4091-5B53-6992F5600C39}"/>
          </ac:spMkLst>
        </pc:spChg>
        <pc:spChg chg="mod">
          <ac:chgData name="Ansari, Aqil" userId="dca82add-72b2-4793-9442-4fe529ce69be" providerId="ADAL" clId="{CEFAE90F-D9F0-4B70-B8A8-839E581EDF4C}" dt="2026-01-22T09:25:56.782" v="25" actId="20577"/>
          <ac:spMkLst>
            <pc:docMk/>
            <pc:sldMk cId="1207869563" sldId="3874"/>
            <ac:spMk id="31" creationId="{B9C8DF96-76EE-4864-B218-8CA76F72386C}"/>
          </ac:spMkLst>
        </pc:spChg>
        <pc:spChg chg="del">
          <ac:chgData name="Ansari, Aqil" userId="dca82add-72b2-4793-9442-4fe529ce69be" providerId="ADAL" clId="{CEFAE90F-D9F0-4B70-B8A8-839E581EDF4C}" dt="2026-01-22T09:27:33.437" v="128" actId="478"/>
          <ac:spMkLst>
            <pc:docMk/>
            <pc:sldMk cId="1207869563" sldId="3874"/>
            <ac:spMk id="32" creationId="{9FEE06AB-6841-4DA1-9792-09E921BDA895}"/>
          </ac:spMkLst>
        </pc:spChg>
        <pc:spChg chg="mod">
          <ac:chgData name="Ansari, Aqil" userId="dca82add-72b2-4793-9442-4fe529ce69be" providerId="ADAL" clId="{CEFAE90F-D9F0-4B70-B8A8-839E581EDF4C}" dt="2026-01-22T09:26:17.425" v="58" actId="20577"/>
          <ac:spMkLst>
            <pc:docMk/>
            <pc:sldMk cId="1207869563" sldId="3874"/>
            <ac:spMk id="41" creationId="{D8E91D0D-292B-4219-8C58-54F870D695C5}"/>
          </ac:spMkLst>
        </pc:spChg>
        <pc:spChg chg="mod">
          <ac:chgData name="Ansari, Aqil" userId="dca82add-72b2-4793-9442-4fe529ce69be" providerId="ADAL" clId="{CEFAE90F-D9F0-4B70-B8A8-839E581EDF4C}" dt="2026-01-22T09:25:39.937" v="9" actId="20577"/>
          <ac:spMkLst>
            <pc:docMk/>
            <pc:sldMk cId="1207869563" sldId="3874"/>
            <ac:spMk id="44" creationId="{9EDCE16C-757D-4AF0-9E0A-0663304AF6AD}"/>
          </ac:spMkLst>
        </pc:spChg>
        <pc:graphicFrameChg chg="modGraphic">
          <ac:chgData name="Ansari, Aqil" userId="dca82add-72b2-4793-9442-4fe529ce69be" providerId="ADAL" clId="{CEFAE90F-D9F0-4B70-B8A8-839E581EDF4C}" dt="2026-01-22T09:21:58.674" v="2" actId="6549"/>
          <ac:graphicFrameMkLst>
            <pc:docMk/>
            <pc:sldMk cId="1207869563" sldId="3874"/>
            <ac:graphicFrameMk id="3" creationId="{E351D019-5215-4892-BD51-454EC27944C3}"/>
          </ac:graphicFrameMkLst>
        </pc:graphicFrameChg>
        <pc:graphicFrameChg chg="modGraphic">
          <ac:chgData name="Ansari, Aqil" userId="dca82add-72b2-4793-9442-4fe529ce69be" providerId="ADAL" clId="{CEFAE90F-D9F0-4B70-B8A8-839E581EDF4C}" dt="2026-01-21T17:26:39.024" v="1" actId="5793"/>
          <ac:graphicFrameMkLst>
            <pc:docMk/>
            <pc:sldMk cId="1207869563" sldId="3874"/>
            <ac:graphicFrameMk id="9" creationId="{E4BED8F1-1363-C8DA-872A-9323967CDBA0}"/>
          </ac:graphicFrameMkLst>
        </pc:graphicFrameChg>
        <pc:graphicFrameChg chg="modGraphic">
          <ac:chgData name="Ansari, Aqil" userId="dca82add-72b2-4793-9442-4fe529ce69be" providerId="ADAL" clId="{CEFAE90F-D9F0-4B70-B8A8-839E581EDF4C}" dt="2026-01-22T09:27:31.240" v="127" actId="6549"/>
          <ac:graphicFrameMkLst>
            <pc:docMk/>
            <pc:sldMk cId="1207869563" sldId="3874"/>
            <ac:graphicFrameMk id="22" creationId="{88A16640-C6DA-6BDF-55DC-6E72BCBF3881}"/>
          </ac:graphicFrameMkLst>
        </pc:graphicFrameChg>
        <pc:graphicFrameChg chg="modGraphic">
          <ac:chgData name="Ansari, Aqil" userId="dca82add-72b2-4793-9442-4fe529ce69be" providerId="ADAL" clId="{CEFAE90F-D9F0-4B70-B8A8-839E581EDF4C}" dt="2026-01-22T09:27:26.373" v="126" actId="6549"/>
          <ac:graphicFrameMkLst>
            <pc:docMk/>
            <pc:sldMk cId="1207869563" sldId="3874"/>
            <ac:graphicFrameMk id="27" creationId="{D4E1DDDD-6F65-91A0-1815-5703917AC231}"/>
          </ac:graphicFrameMkLst>
        </pc:graphicFrameChg>
        <pc:graphicFrameChg chg="modGraphic">
          <ac:chgData name="Ansari, Aqil" userId="dca82add-72b2-4793-9442-4fe529ce69be" providerId="ADAL" clId="{CEFAE90F-D9F0-4B70-B8A8-839E581EDF4C}" dt="2026-01-22T09:38:02.422" v="156" actId="20577"/>
          <ac:graphicFrameMkLst>
            <pc:docMk/>
            <pc:sldMk cId="1207869563" sldId="3874"/>
            <ac:graphicFrameMk id="35" creationId="{ADB8B732-DF72-4CA8-95BE-2DD3B1E82C2C}"/>
          </ac:graphicFrameMkLst>
        </pc:graphicFrameChg>
        <pc:picChg chg="del">
          <ac:chgData name="Ansari, Aqil" userId="dca82add-72b2-4793-9442-4fe529ce69be" providerId="ADAL" clId="{CEFAE90F-D9F0-4B70-B8A8-839E581EDF4C}" dt="2026-01-22T09:25:46.947" v="10" actId="478"/>
          <ac:picMkLst>
            <pc:docMk/>
            <pc:sldMk cId="1207869563" sldId="3874"/>
            <ac:picMk id="1026" creationId="{274D7F4C-1F7C-FB86-5C73-059DA4E9048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5"/>
            <a:ext cx="2946400" cy="498395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9" y="5"/>
            <a:ext cx="2946400" cy="498395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E2F3E9F-B3D1-4A29-8C5D-93309BBED2E9}" type="datetimeFigureOut">
              <a:rPr lang="en-GB" smtClean="0"/>
              <a:t>21/01/2026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247"/>
            <a:ext cx="2946400" cy="498395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9" y="9428247"/>
            <a:ext cx="2946400" cy="498395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2AD0B2E3-1C29-477A-8F14-EFF7882446E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6981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6"/>
            <a:ext cx="2946400" cy="498395"/>
          </a:xfrm>
          <a:prstGeom prst="rect">
            <a:avLst/>
          </a:prstGeom>
        </p:spPr>
        <p:txBody>
          <a:bodyPr vert="horz" lIns="91416" tIns="45708" rIns="91416" bIns="45708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9" y="6"/>
            <a:ext cx="2946400" cy="498395"/>
          </a:xfrm>
          <a:prstGeom prst="rect">
            <a:avLst/>
          </a:prstGeom>
        </p:spPr>
        <p:txBody>
          <a:bodyPr vert="horz" lIns="91416" tIns="45708" rIns="91416" bIns="45708" rtlCol="0"/>
          <a:lstStyle>
            <a:lvl1pPr algn="r">
              <a:defRPr sz="1200"/>
            </a:lvl1pPr>
          </a:lstStyle>
          <a:p>
            <a:fld id="{832E64DE-BF0D-4ABC-A77F-0EDA817E2D68}" type="datetimeFigureOut">
              <a:rPr lang="en-GB" smtClean="0"/>
              <a:t>21/01/2026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1241425"/>
            <a:ext cx="4470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6" tIns="45708" rIns="91416" bIns="4570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8" y="4777615"/>
            <a:ext cx="5438775" cy="3907800"/>
          </a:xfrm>
          <a:prstGeom prst="rect">
            <a:avLst/>
          </a:prstGeom>
        </p:spPr>
        <p:txBody>
          <a:bodyPr vert="horz" lIns="91416" tIns="45708" rIns="91416" bIns="4570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248"/>
            <a:ext cx="2946400" cy="498395"/>
          </a:xfrm>
          <a:prstGeom prst="rect">
            <a:avLst/>
          </a:prstGeom>
        </p:spPr>
        <p:txBody>
          <a:bodyPr vert="horz" lIns="91416" tIns="45708" rIns="91416" bIns="45708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9" y="9428248"/>
            <a:ext cx="2946400" cy="498395"/>
          </a:xfrm>
          <a:prstGeom prst="rect">
            <a:avLst/>
          </a:prstGeom>
        </p:spPr>
        <p:txBody>
          <a:bodyPr vert="horz" lIns="91416" tIns="45708" rIns="91416" bIns="45708" rtlCol="0" anchor="b"/>
          <a:lstStyle>
            <a:lvl1pPr algn="r">
              <a:defRPr sz="1200"/>
            </a:lvl1pPr>
          </a:lstStyle>
          <a:p>
            <a:fld id="{E7B6E65E-13B1-4D04-8D41-D581ECA84E5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7136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B6E65E-13B1-4D04-8D41-D581ECA84E5C}" type="slidenum">
              <a:rPr lang="en-GB" smtClean="0"/>
              <a:t>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0349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 userDrawn="1"/>
        </p:nvGrpSpPr>
        <p:grpSpPr>
          <a:xfrm>
            <a:off x="0" y="0"/>
            <a:ext cx="10063163" cy="7539038"/>
            <a:chOff x="0" y="0"/>
            <a:chExt cx="10063163" cy="7539038"/>
          </a:xfrm>
        </p:grpSpPr>
        <p:sp>
          <p:nvSpPr>
            <p:cNvPr id="18" name="Rectangle 11"/>
            <p:cNvSpPr>
              <a:spLocks noChangeArrowheads="1"/>
            </p:cNvSpPr>
            <p:nvPr userDrawn="1"/>
          </p:nvSpPr>
          <p:spPr bwMode="auto">
            <a:xfrm>
              <a:off x="0" y="0"/>
              <a:ext cx="10063163" cy="7539038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0" y="0"/>
              <a:ext cx="4397375" cy="7539038"/>
            </a:xfrm>
            <a:custGeom>
              <a:avLst/>
              <a:gdLst>
                <a:gd name="T0" fmla="*/ 252 w 461"/>
                <a:gd name="T1" fmla="*/ 448 h 790"/>
                <a:gd name="T2" fmla="*/ 422 w 461"/>
                <a:gd name="T3" fmla="*/ 212 h 790"/>
                <a:gd name="T4" fmla="*/ 304 w 461"/>
                <a:gd name="T5" fmla="*/ 0 h 790"/>
                <a:gd name="T6" fmla="*/ 0 w 461"/>
                <a:gd name="T7" fmla="*/ 0 h 790"/>
                <a:gd name="T8" fmla="*/ 0 w 461"/>
                <a:gd name="T9" fmla="*/ 84 h 790"/>
                <a:gd name="T10" fmla="*/ 97 w 461"/>
                <a:gd name="T11" fmla="*/ 50 h 790"/>
                <a:gd name="T12" fmla="*/ 254 w 461"/>
                <a:gd name="T13" fmla="*/ 223 h 790"/>
                <a:gd name="T14" fmla="*/ 149 w 461"/>
                <a:gd name="T15" fmla="*/ 402 h 790"/>
                <a:gd name="T16" fmla="*/ 0 w 461"/>
                <a:gd name="T17" fmla="*/ 315 h 790"/>
                <a:gd name="T18" fmla="*/ 0 w 461"/>
                <a:gd name="T19" fmla="*/ 526 h 790"/>
                <a:gd name="T20" fmla="*/ 17 w 461"/>
                <a:gd name="T21" fmla="*/ 516 h 790"/>
                <a:gd name="T22" fmla="*/ 279 w 461"/>
                <a:gd name="T23" fmla="*/ 749 h 790"/>
                <a:gd name="T24" fmla="*/ 274 w 461"/>
                <a:gd name="T25" fmla="*/ 790 h 790"/>
                <a:gd name="T26" fmla="*/ 449 w 461"/>
                <a:gd name="T27" fmla="*/ 790 h 790"/>
                <a:gd name="T28" fmla="*/ 461 w 461"/>
                <a:gd name="T29" fmla="*/ 704 h 790"/>
                <a:gd name="T30" fmla="*/ 252 w 461"/>
                <a:gd name="T31" fmla="*/ 448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1" h="790">
                  <a:moveTo>
                    <a:pt x="252" y="448"/>
                  </a:moveTo>
                  <a:cubicBezTo>
                    <a:pt x="368" y="397"/>
                    <a:pt x="422" y="311"/>
                    <a:pt x="422" y="212"/>
                  </a:cubicBezTo>
                  <a:cubicBezTo>
                    <a:pt x="422" y="123"/>
                    <a:pt x="379" y="47"/>
                    <a:pt x="3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6" y="62"/>
                    <a:pt x="59" y="50"/>
                    <a:pt x="97" y="50"/>
                  </a:cubicBezTo>
                  <a:cubicBezTo>
                    <a:pt x="189" y="50"/>
                    <a:pt x="254" y="119"/>
                    <a:pt x="254" y="223"/>
                  </a:cubicBezTo>
                  <a:cubicBezTo>
                    <a:pt x="254" y="248"/>
                    <a:pt x="251" y="321"/>
                    <a:pt x="149" y="402"/>
                  </a:cubicBezTo>
                  <a:cubicBezTo>
                    <a:pt x="82" y="373"/>
                    <a:pt x="33" y="347"/>
                    <a:pt x="0" y="315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9" y="521"/>
                    <a:pt x="17" y="516"/>
                    <a:pt x="17" y="516"/>
                  </a:cubicBezTo>
                  <a:cubicBezTo>
                    <a:pt x="191" y="587"/>
                    <a:pt x="279" y="643"/>
                    <a:pt x="279" y="749"/>
                  </a:cubicBezTo>
                  <a:cubicBezTo>
                    <a:pt x="279" y="763"/>
                    <a:pt x="277" y="777"/>
                    <a:pt x="274" y="790"/>
                  </a:cubicBezTo>
                  <a:cubicBezTo>
                    <a:pt x="449" y="790"/>
                    <a:pt x="449" y="790"/>
                    <a:pt x="449" y="790"/>
                  </a:cubicBezTo>
                  <a:cubicBezTo>
                    <a:pt x="457" y="763"/>
                    <a:pt x="461" y="734"/>
                    <a:pt x="461" y="704"/>
                  </a:cubicBezTo>
                  <a:cubicBezTo>
                    <a:pt x="461" y="585"/>
                    <a:pt x="399" y="502"/>
                    <a:pt x="252" y="448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13"/>
            <p:cNvSpPr>
              <a:spLocks noEditPoints="1"/>
            </p:cNvSpPr>
            <p:nvPr userDrawn="1"/>
          </p:nvSpPr>
          <p:spPr bwMode="auto">
            <a:xfrm>
              <a:off x="5399088" y="0"/>
              <a:ext cx="4664075" cy="2795588"/>
            </a:xfrm>
            <a:custGeom>
              <a:avLst/>
              <a:gdLst>
                <a:gd name="T0" fmla="*/ 345 w 489"/>
                <a:gd name="T1" fmla="*/ 0 h 293"/>
                <a:gd name="T2" fmla="*/ 321 w 489"/>
                <a:gd name="T3" fmla="*/ 26 h 293"/>
                <a:gd name="T4" fmla="*/ 321 w 489"/>
                <a:gd name="T5" fmla="*/ 26 h 293"/>
                <a:gd name="T6" fmla="*/ 298 w 489"/>
                <a:gd name="T7" fmla="*/ 0 h 293"/>
                <a:gd name="T8" fmla="*/ 50 w 489"/>
                <a:gd name="T9" fmla="*/ 0 h 293"/>
                <a:gd name="T10" fmla="*/ 3 w 489"/>
                <a:gd name="T11" fmla="*/ 119 h 293"/>
                <a:gd name="T12" fmla="*/ 179 w 489"/>
                <a:gd name="T13" fmla="*/ 292 h 293"/>
                <a:gd name="T14" fmla="*/ 344 w 489"/>
                <a:gd name="T15" fmla="*/ 218 h 293"/>
                <a:gd name="T16" fmla="*/ 344 w 489"/>
                <a:gd name="T17" fmla="*/ 218 h 293"/>
                <a:gd name="T18" fmla="*/ 476 w 489"/>
                <a:gd name="T19" fmla="*/ 291 h 293"/>
                <a:gd name="T20" fmla="*/ 489 w 489"/>
                <a:gd name="T21" fmla="*/ 291 h 293"/>
                <a:gd name="T22" fmla="*/ 489 w 489"/>
                <a:gd name="T23" fmla="*/ 207 h 293"/>
                <a:gd name="T24" fmla="*/ 391 w 489"/>
                <a:gd name="T25" fmla="*/ 136 h 293"/>
                <a:gd name="T26" fmla="*/ 489 w 489"/>
                <a:gd name="T27" fmla="*/ 40 h 293"/>
                <a:gd name="T28" fmla="*/ 489 w 489"/>
                <a:gd name="T29" fmla="*/ 0 h 293"/>
                <a:gd name="T30" fmla="*/ 345 w 489"/>
                <a:gd name="T31" fmla="*/ 0 h 293"/>
                <a:gd name="T32" fmla="*/ 167 w 489"/>
                <a:gd name="T33" fmla="*/ 203 h 293"/>
                <a:gd name="T34" fmla="*/ 84 w 489"/>
                <a:gd name="T35" fmla="*/ 118 h 293"/>
                <a:gd name="T36" fmla="*/ 175 w 489"/>
                <a:gd name="T37" fmla="*/ 35 h 293"/>
                <a:gd name="T38" fmla="*/ 274 w 489"/>
                <a:gd name="T39" fmla="*/ 107 h 293"/>
                <a:gd name="T40" fmla="*/ 167 w 489"/>
                <a:gd name="T41" fmla="*/ 20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9" h="293">
                  <a:moveTo>
                    <a:pt x="345" y="0"/>
                  </a:moveTo>
                  <a:cubicBezTo>
                    <a:pt x="336" y="8"/>
                    <a:pt x="328" y="17"/>
                    <a:pt x="321" y="26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16" y="19"/>
                    <a:pt x="308" y="10"/>
                    <a:pt x="29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1" y="29"/>
                    <a:pt x="4" y="70"/>
                    <a:pt x="3" y="119"/>
                  </a:cubicBezTo>
                  <a:cubicBezTo>
                    <a:pt x="0" y="221"/>
                    <a:pt x="71" y="290"/>
                    <a:pt x="179" y="292"/>
                  </a:cubicBezTo>
                  <a:cubicBezTo>
                    <a:pt x="269" y="293"/>
                    <a:pt x="311" y="255"/>
                    <a:pt x="344" y="218"/>
                  </a:cubicBezTo>
                  <a:cubicBezTo>
                    <a:pt x="344" y="218"/>
                    <a:pt x="344" y="218"/>
                    <a:pt x="344" y="218"/>
                  </a:cubicBezTo>
                  <a:cubicBezTo>
                    <a:pt x="360" y="240"/>
                    <a:pt x="405" y="287"/>
                    <a:pt x="476" y="291"/>
                  </a:cubicBezTo>
                  <a:cubicBezTo>
                    <a:pt x="480" y="291"/>
                    <a:pt x="485" y="291"/>
                    <a:pt x="489" y="291"/>
                  </a:cubicBezTo>
                  <a:cubicBezTo>
                    <a:pt x="489" y="207"/>
                    <a:pt x="489" y="207"/>
                    <a:pt x="489" y="207"/>
                  </a:cubicBezTo>
                  <a:cubicBezTo>
                    <a:pt x="428" y="205"/>
                    <a:pt x="394" y="144"/>
                    <a:pt x="391" y="136"/>
                  </a:cubicBezTo>
                  <a:cubicBezTo>
                    <a:pt x="394" y="126"/>
                    <a:pt x="424" y="47"/>
                    <a:pt x="489" y="40"/>
                  </a:cubicBezTo>
                  <a:cubicBezTo>
                    <a:pt x="489" y="0"/>
                    <a:pt x="489" y="0"/>
                    <a:pt x="489" y="0"/>
                  </a:cubicBezTo>
                  <a:lnTo>
                    <a:pt x="345" y="0"/>
                  </a:lnTo>
                  <a:close/>
                  <a:moveTo>
                    <a:pt x="167" y="203"/>
                  </a:moveTo>
                  <a:cubicBezTo>
                    <a:pt x="105" y="202"/>
                    <a:pt x="83" y="157"/>
                    <a:pt x="84" y="118"/>
                  </a:cubicBezTo>
                  <a:cubicBezTo>
                    <a:pt x="85" y="64"/>
                    <a:pt x="117" y="34"/>
                    <a:pt x="175" y="35"/>
                  </a:cubicBezTo>
                  <a:cubicBezTo>
                    <a:pt x="237" y="36"/>
                    <a:pt x="271" y="98"/>
                    <a:pt x="274" y="107"/>
                  </a:cubicBezTo>
                  <a:cubicBezTo>
                    <a:pt x="272" y="118"/>
                    <a:pt x="239" y="204"/>
                    <a:pt x="167" y="203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850" y="2189245"/>
            <a:ext cx="8640000" cy="1384995"/>
          </a:xfrm>
        </p:spPr>
        <p:txBody>
          <a:bodyPr>
            <a:noAutofit/>
          </a:bodyPr>
          <a:lstStyle>
            <a:lvl1pPr algn="l">
              <a:defRPr sz="24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2850" y="3934158"/>
            <a:ext cx="8640000" cy="1386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400">
                <a:solidFill>
                  <a:schemeClr val="accent2"/>
                </a:solidFill>
                <a:latin typeface="+mj-lt"/>
              </a:defRPr>
            </a:lvl2pPr>
            <a:lvl3pPr marL="958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7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6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5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51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4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3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849" y="6930439"/>
            <a:ext cx="2353588" cy="180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01674" y="6925773"/>
            <a:ext cx="4697414" cy="184666"/>
          </a:xfrm>
        </p:spPr>
        <p:txBody>
          <a:bodyPr wrap="square" anchor="b">
            <a:spAutoFit/>
          </a:bodyPr>
          <a:lstStyle>
            <a:lvl1pPr>
              <a:defRPr sz="1200" cap="all" baseline="0">
                <a:solidFill>
                  <a:schemeClr val="tx1"/>
                </a:solidFill>
              </a:defRPr>
            </a:lvl1pPr>
            <a:lvl3pPr marL="0" indent="0">
              <a:buNone/>
              <a:defRPr/>
            </a:lvl3pPr>
            <a:lvl4pPr marL="180000" indent="0">
              <a:buNone/>
              <a:defRPr/>
            </a:lvl4pPr>
            <a:lvl5pPr marL="360000" indent="0">
              <a:buNone/>
              <a:defRPr/>
            </a:lvl5pPr>
          </a:lstStyle>
          <a:p>
            <a:pPr lvl="0"/>
            <a:r>
              <a:rPr lang="en-US"/>
              <a:t>Add Classification Label…</a:t>
            </a:r>
          </a:p>
        </p:txBody>
      </p:sp>
    </p:spTree>
    <p:extLst>
      <p:ext uri="{BB962C8B-B14F-4D97-AF65-F5344CB8AC3E}">
        <p14:creationId xmlns:p14="http://schemas.microsoft.com/office/powerpoint/2010/main" val="290832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0" y="0"/>
            <a:ext cx="10063163" cy="7539038"/>
            <a:chOff x="0" y="0"/>
            <a:chExt cx="10063163" cy="7539038"/>
          </a:xfrm>
        </p:grpSpPr>
        <p:sp>
          <p:nvSpPr>
            <p:cNvPr id="12" name="Rectangle 11"/>
            <p:cNvSpPr>
              <a:spLocks noChangeArrowheads="1"/>
            </p:cNvSpPr>
            <p:nvPr userDrawn="1"/>
          </p:nvSpPr>
          <p:spPr bwMode="auto">
            <a:xfrm>
              <a:off x="0" y="0"/>
              <a:ext cx="10063163" cy="753903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400" dirty="0"/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0" y="0"/>
              <a:ext cx="4397375" cy="7539038"/>
            </a:xfrm>
            <a:custGeom>
              <a:avLst/>
              <a:gdLst>
                <a:gd name="T0" fmla="*/ 252 w 461"/>
                <a:gd name="T1" fmla="*/ 448 h 790"/>
                <a:gd name="T2" fmla="*/ 422 w 461"/>
                <a:gd name="T3" fmla="*/ 212 h 790"/>
                <a:gd name="T4" fmla="*/ 304 w 461"/>
                <a:gd name="T5" fmla="*/ 0 h 790"/>
                <a:gd name="T6" fmla="*/ 0 w 461"/>
                <a:gd name="T7" fmla="*/ 0 h 790"/>
                <a:gd name="T8" fmla="*/ 0 w 461"/>
                <a:gd name="T9" fmla="*/ 84 h 790"/>
                <a:gd name="T10" fmla="*/ 97 w 461"/>
                <a:gd name="T11" fmla="*/ 50 h 790"/>
                <a:gd name="T12" fmla="*/ 254 w 461"/>
                <a:gd name="T13" fmla="*/ 223 h 790"/>
                <a:gd name="T14" fmla="*/ 149 w 461"/>
                <a:gd name="T15" fmla="*/ 402 h 790"/>
                <a:gd name="T16" fmla="*/ 0 w 461"/>
                <a:gd name="T17" fmla="*/ 315 h 790"/>
                <a:gd name="T18" fmla="*/ 0 w 461"/>
                <a:gd name="T19" fmla="*/ 526 h 790"/>
                <a:gd name="T20" fmla="*/ 17 w 461"/>
                <a:gd name="T21" fmla="*/ 516 h 790"/>
                <a:gd name="T22" fmla="*/ 279 w 461"/>
                <a:gd name="T23" fmla="*/ 749 h 790"/>
                <a:gd name="T24" fmla="*/ 274 w 461"/>
                <a:gd name="T25" fmla="*/ 790 h 790"/>
                <a:gd name="T26" fmla="*/ 449 w 461"/>
                <a:gd name="T27" fmla="*/ 790 h 790"/>
                <a:gd name="T28" fmla="*/ 461 w 461"/>
                <a:gd name="T29" fmla="*/ 704 h 790"/>
                <a:gd name="T30" fmla="*/ 252 w 461"/>
                <a:gd name="T31" fmla="*/ 448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1" h="790">
                  <a:moveTo>
                    <a:pt x="252" y="448"/>
                  </a:moveTo>
                  <a:cubicBezTo>
                    <a:pt x="368" y="397"/>
                    <a:pt x="422" y="311"/>
                    <a:pt x="422" y="212"/>
                  </a:cubicBezTo>
                  <a:cubicBezTo>
                    <a:pt x="422" y="123"/>
                    <a:pt x="379" y="47"/>
                    <a:pt x="3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6" y="62"/>
                    <a:pt x="59" y="50"/>
                    <a:pt x="97" y="50"/>
                  </a:cubicBezTo>
                  <a:cubicBezTo>
                    <a:pt x="189" y="50"/>
                    <a:pt x="254" y="119"/>
                    <a:pt x="254" y="223"/>
                  </a:cubicBezTo>
                  <a:cubicBezTo>
                    <a:pt x="254" y="248"/>
                    <a:pt x="251" y="321"/>
                    <a:pt x="149" y="402"/>
                  </a:cubicBezTo>
                  <a:cubicBezTo>
                    <a:pt x="82" y="373"/>
                    <a:pt x="33" y="347"/>
                    <a:pt x="0" y="315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9" y="521"/>
                    <a:pt x="17" y="516"/>
                    <a:pt x="17" y="516"/>
                  </a:cubicBezTo>
                  <a:cubicBezTo>
                    <a:pt x="191" y="587"/>
                    <a:pt x="279" y="643"/>
                    <a:pt x="279" y="749"/>
                  </a:cubicBezTo>
                  <a:cubicBezTo>
                    <a:pt x="279" y="763"/>
                    <a:pt x="277" y="777"/>
                    <a:pt x="274" y="790"/>
                  </a:cubicBezTo>
                  <a:cubicBezTo>
                    <a:pt x="449" y="790"/>
                    <a:pt x="449" y="790"/>
                    <a:pt x="449" y="790"/>
                  </a:cubicBezTo>
                  <a:cubicBezTo>
                    <a:pt x="457" y="763"/>
                    <a:pt x="461" y="734"/>
                    <a:pt x="461" y="704"/>
                  </a:cubicBezTo>
                  <a:cubicBezTo>
                    <a:pt x="461" y="585"/>
                    <a:pt x="399" y="502"/>
                    <a:pt x="252" y="448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400" dirty="0"/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5399088" y="0"/>
              <a:ext cx="4664075" cy="2795588"/>
            </a:xfrm>
            <a:custGeom>
              <a:avLst/>
              <a:gdLst>
                <a:gd name="T0" fmla="*/ 345 w 489"/>
                <a:gd name="T1" fmla="*/ 0 h 293"/>
                <a:gd name="T2" fmla="*/ 321 w 489"/>
                <a:gd name="T3" fmla="*/ 26 h 293"/>
                <a:gd name="T4" fmla="*/ 321 w 489"/>
                <a:gd name="T5" fmla="*/ 26 h 293"/>
                <a:gd name="T6" fmla="*/ 298 w 489"/>
                <a:gd name="T7" fmla="*/ 0 h 293"/>
                <a:gd name="T8" fmla="*/ 50 w 489"/>
                <a:gd name="T9" fmla="*/ 0 h 293"/>
                <a:gd name="T10" fmla="*/ 3 w 489"/>
                <a:gd name="T11" fmla="*/ 119 h 293"/>
                <a:gd name="T12" fmla="*/ 179 w 489"/>
                <a:gd name="T13" fmla="*/ 292 h 293"/>
                <a:gd name="T14" fmla="*/ 344 w 489"/>
                <a:gd name="T15" fmla="*/ 218 h 293"/>
                <a:gd name="T16" fmla="*/ 344 w 489"/>
                <a:gd name="T17" fmla="*/ 218 h 293"/>
                <a:gd name="T18" fmla="*/ 476 w 489"/>
                <a:gd name="T19" fmla="*/ 291 h 293"/>
                <a:gd name="T20" fmla="*/ 489 w 489"/>
                <a:gd name="T21" fmla="*/ 291 h 293"/>
                <a:gd name="T22" fmla="*/ 489 w 489"/>
                <a:gd name="T23" fmla="*/ 207 h 293"/>
                <a:gd name="T24" fmla="*/ 391 w 489"/>
                <a:gd name="T25" fmla="*/ 136 h 293"/>
                <a:gd name="T26" fmla="*/ 489 w 489"/>
                <a:gd name="T27" fmla="*/ 40 h 293"/>
                <a:gd name="T28" fmla="*/ 489 w 489"/>
                <a:gd name="T29" fmla="*/ 0 h 293"/>
                <a:gd name="T30" fmla="*/ 345 w 489"/>
                <a:gd name="T31" fmla="*/ 0 h 293"/>
                <a:gd name="T32" fmla="*/ 167 w 489"/>
                <a:gd name="T33" fmla="*/ 203 h 293"/>
                <a:gd name="T34" fmla="*/ 84 w 489"/>
                <a:gd name="T35" fmla="*/ 118 h 293"/>
                <a:gd name="T36" fmla="*/ 175 w 489"/>
                <a:gd name="T37" fmla="*/ 35 h 293"/>
                <a:gd name="T38" fmla="*/ 274 w 489"/>
                <a:gd name="T39" fmla="*/ 107 h 293"/>
                <a:gd name="T40" fmla="*/ 167 w 489"/>
                <a:gd name="T41" fmla="*/ 20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9" h="293">
                  <a:moveTo>
                    <a:pt x="345" y="0"/>
                  </a:moveTo>
                  <a:cubicBezTo>
                    <a:pt x="336" y="8"/>
                    <a:pt x="328" y="17"/>
                    <a:pt x="321" y="26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16" y="19"/>
                    <a:pt x="308" y="10"/>
                    <a:pt x="29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1" y="29"/>
                    <a:pt x="4" y="70"/>
                    <a:pt x="3" y="119"/>
                  </a:cubicBezTo>
                  <a:cubicBezTo>
                    <a:pt x="0" y="221"/>
                    <a:pt x="71" y="290"/>
                    <a:pt x="179" y="292"/>
                  </a:cubicBezTo>
                  <a:cubicBezTo>
                    <a:pt x="269" y="293"/>
                    <a:pt x="311" y="255"/>
                    <a:pt x="344" y="218"/>
                  </a:cubicBezTo>
                  <a:cubicBezTo>
                    <a:pt x="344" y="218"/>
                    <a:pt x="344" y="218"/>
                    <a:pt x="344" y="218"/>
                  </a:cubicBezTo>
                  <a:cubicBezTo>
                    <a:pt x="360" y="240"/>
                    <a:pt x="405" y="287"/>
                    <a:pt x="476" y="291"/>
                  </a:cubicBezTo>
                  <a:cubicBezTo>
                    <a:pt x="480" y="291"/>
                    <a:pt x="485" y="291"/>
                    <a:pt x="489" y="291"/>
                  </a:cubicBezTo>
                  <a:cubicBezTo>
                    <a:pt x="489" y="207"/>
                    <a:pt x="489" y="207"/>
                    <a:pt x="489" y="207"/>
                  </a:cubicBezTo>
                  <a:cubicBezTo>
                    <a:pt x="428" y="205"/>
                    <a:pt x="394" y="144"/>
                    <a:pt x="391" y="136"/>
                  </a:cubicBezTo>
                  <a:cubicBezTo>
                    <a:pt x="394" y="126"/>
                    <a:pt x="424" y="47"/>
                    <a:pt x="489" y="40"/>
                  </a:cubicBezTo>
                  <a:cubicBezTo>
                    <a:pt x="489" y="0"/>
                    <a:pt x="489" y="0"/>
                    <a:pt x="489" y="0"/>
                  </a:cubicBezTo>
                  <a:lnTo>
                    <a:pt x="345" y="0"/>
                  </a:lnTo>
                  <a:close/>
                  <a:moveTo>
                    <a:pt x="167" y="203"/>
                  </a:moveTo>
                  <a:cubicBezTo>
                    <a:pt x="105" y="202"/>
                    <a:pt x="83" y="157"/>
                    <a:pt x="84" y="118"/>
                  </a:cubicBezTo>
                  <a:cubicBezTo>
                    <a:pt x="85" y="64"/>
                    <a:pt x="117" y="34"/>
                    <a:pt x="175" y="35"/>
                  </a:cubicBezTo>
                  <a:cubicBezTo>
                    <a:pt x="237" y="36"/>
                    <a:pt x="271" y="98"/>
                    <a:pt x="274" y="107"/>
                  </a:cubicBezTo>
                  <a:cubicBezTo>
                    <a:pt x="272" y="118"/>
                    <a:pt x="239" y="204"/>
                    <a:pt x="167" y="203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4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090" y="1914172"/>
            <a:ext cx="8640000" cy="1646039"/>
          </a:xfrm>
          <a:ln>
            <a:noFill/>
          </a:ln>
        </p:spPr>
        <p:txBody>
          <a:bodyPr anchor="b">
            <a:noAutofit/>
          </a:bodyPr>
          <a:lstStyle>
            <a:lvl1pPr algn="l">
              <a:defRPr sz="2000" b="1" cap="none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3090" y="3920129"/>
            <a:ext cx="8640000" cy="1646039"/>
          </a:xfrm>
        </p:spPr>
        <p:txBody>
          <a:bodyPr anchor="t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2pPr>
            <a:lvl3pPr marL="958383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3757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1676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9595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7514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543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3353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03090" y="6977352"/>
            <a:ext cx="94881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583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1" dirty="0">
                <a:solidFill>
                  <a:schemeClr val="tx1"/>
                </a:solidFill>
              </a:rPr>
              <a:t>PAGE</a:t>
            </a:r>
            <a:r>
              <a:rPr lang="en-GB" sz="600" b="1" baseline="0" dirty="0">
                <a:solidFill>
                  <a:schemeClr val="tx1"/>
                </a:solidFill>
              </a:rPr>
              <a:t> </a:t>
            </a:r>
            <a:fld id="{73D266FA-6C1B-4F94-89A2-4670EA1E26B1}" type="slidenum">
              <a:rPr lang="en-GB" sz="600" b="1" smtClean="0">
                <a:solidFill>
                  <a:schemeClr val="tx1"/>
                </a:solidFill>
              </a:rPr>
              <a:pPr marL="0" marR="0" indent="0" algn="l" defTabSz="9583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600" b="1" dirty="0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4344" y="6932885"/>
            <a:ext cx="1788746" cy="1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89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042581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100"/>
              </a:spcBef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100"/>
              </a:spcBef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720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905169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360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70850" y="1242000"/>
            <a:ext cx="4608000" cy="5940000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5166850" y="1242000"/>
            <a:ext cx="4608000" cy="5940000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73866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270850" y="7337042"/>
            <a:ext cx="94881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583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1" dirty="0">
                <a:solidFill>
                  <a:schemeClr val="tx1"/>
                </a:solidFill>
              </a:rPr>
              <a:t>PAGE</a:t>
            </a:r>
            <a:r>
              <a:rPr lang="en-GB" sz="600" b="1" baseline="0" dirty="0">
                <a:solidFill>
                  <a:schemeClr val="tx1"/>
                </a:solidFill>
              </a:rPr>
              <a:t> </a:t>
            </a:r>
            <a:fld id="{73D266FA-6C1B-4F94-89A2-4670EA1E26B1}" type="slidenum">
              <a:rPr lang="en-GB" sz="600" b="1" smtClean="0">
                <a:solidFill>
                  <a:schemeClr val="tx1"/>
                </a:solidFill>
              </a:rPr>
              <a:pPr marL="0" marR="0" indent="0" algn="l" defTabSz="9583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6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698"/>
          <a:stretch/>
        </p:blipFill>
        <p:spPr>
          <a:xfrm>
            <a:off x="8199672" y="7303375"/>
            <a:ext cx="1575178" cy="1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7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0"/>
            <a:ext cx="10061575" cy="7537450"/>
            <a:chOff x="0" y="0"/>
            <a:chExt cx="10061575" cy="7537450"/>
          </a:xfrm>
        </p:grpSpPr>
        <p:sp>
          <p:nvSpPr>
            <p:cNvPr id="14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0061575" cy="7537450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0" y="0"/>
              <a:ext cx="4397375" cy="7537450"/>
            </a:xfrm>
            <a:custGeom>
              <a:avLst/>
              <a:gdLst>
                <a:gd name="T0" fmla="*/ 252 w 461"/>
                <a:gd name="T1" fmla="*/ 448 h 790"/>
                <a:gd name="T2" fmla="*/ 422 w 461"/>
                <a:gd name="T3" fmla="*/ 212 h 790"/>
                <a:gd name="T4" fmla="*/ 304 w 461"/>
                <a:gd name="T5" fmla="*/ 0 h 790"/>
                <a:gd name="T6" fmla="*/ 0 w 461"/>
                <a:gd name="T7" fmla="*/ 0 h 790"/>
                <a:gd name="T8" fmla="*/ 0 w 461"/>
                <a:gd name="T9" fmla="*/ 84 h 790"/>
                <a:gd name="T10" fmla="*/ 97 w 461"/>
                <a:gd name="T11" fmla="*/ 50 h 790"/>
                <a:gd name="T12" fmla="*/ 254 w 461"/>
                <a:gd name="T13" fmla="*/ 223 h 790"/>
                <a:gd name="T14" fmla="*/ 149 w 461"/>
                <a:gd name="T15" fmla="*/ 402 h 790"/>
                <a:gd name="T16" fmla="*/ 0 w 461"/>
                <a:gd name="T17" fmla="*/ 315 h 790"/>
                <a:gd name="T18" fmla="*/ 0 w 461"/>
                <a:gd name="T19" fmla="*/ 526 h 790"/>
                <a:gd name="T20" fmla="*/ 17 w 461"/>
                <a:gd name="T21" fmla="*/ 516 h 790"/>
                <a:gd name="T22" fmla="*/ 279 w 461"/>
                <a:gd name="T23" fmla="*/ 749 h 790"/>
                <a:gd name="T24" fmla="*/ 274 w 461"/>
                <a:gd name="T25" fmla="*/ 790 h 790"/>
                <a:gd name="T26" fmla="*/ 449 w 461"/>
                <a:gd name="T27" fmla="*/ 790 h 790"/>
                <a:gd name="T28" fmla="*/ 461 w 461"/>
                <a:gd name="T29" fmla="*/ 704 h 790"/>
                <a:gd name="T30" fmla="*/ 252 w 461"/>
                <a:gd name="T31" fmla="*/ 448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1" h="790">
                  <a:moveTo>
                    <a:pt x="252" y="448"/>
                  </a:moveTo>
                  <a:cubicBezTo>
                    <a:pt x="368" y="397"/>
                    <a:pt x="422" y="311"/>
                    <a:pt x="422" y="212"/>
                  </a:cubicBezTo>
                  <a:cubicBezTo>
                    <a:pt x="422" y="123"/>
                    <a:pt x="379" y="47"/>
                    <a:pt x="3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6" y="62"/>
                    <a:pt x="59" y="50"/>
                    <a:pt x="97" y="50"/>
                  </a:cubicBezTo>
                  <a:cubicBezTo>
                    <a:pt x="189" y="50"/>
                    <a:pt x="254" y="119"/>
                    <a:pt x="254" y="223"/>
                  </a:cubicBezTo>
                  <a:cubicBezTo>
                    <a:pt x="254" y="248"/>
                    <a:pt x="251" y="321"/>
                    <a:pt x="149" y="402"/>
                  </a:cubicBezTo>
                  <a:cubicBezTo>
                    <a:pt x="82" y="373"/>
                    <a:pt x="33" y="347"/>
                    <a:pt x="0" y="315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9" y="521"/>
                    <a:pt x="17" y="516"/>
                    <a:pt x="17" y="516"/>
                  </a:cubicBezTo>
                  <a:cubicBezTo>
                    <a:pt x="191" y="587"/>
                    <a:pt x="279" y="643"/>
                    <a:pt x="279" y="749"/>
                  </a:cubicBezTo>
                  <a:cubicBezTo>
                    <a:pt x="279" y="763"/>
                    <a:pt x="277" y="777"/>
                    <a:pt x="274" y="790"/>
                  </a:cubicBezTo>
                  <a:cubicBezTo>
                    <a:pt x="449" y="790"/>
                    <a:pt x="449" y="790"/>
                    <a:pt x="449" y="790"/>
                  </a:cubicBezTo>
                  <a:cubicBezTo>
                    <a:pt x="457" y="763"/>
                    <a:pt x="461" y="734"/>
                    <a:pt x="461" y="704"/>
                  </a:cubicBezTo>
                  <a:cubicBezTo>
                    <a:pt x="461" y="585"/>
                    <a:pt x="399" y="502"/>
                    <a:pt x="252" y="448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8" name="Freeform 7"/>
            <p:cNvSpPr>
              <a:spLocks noEditPoints="1"/>
            </p:cNvSpPr>
            <p:nvPr userDrawn="1"/>
          </p:nvSpPr>
          <p:spPr bwMode="auto">
            <a:xfrm>
              <a:off x="5397500" y="0"/>
              <a:ext cx="4664075" cy="2795588"/>
            </a:xfrm>
            <a:custGeom>
              <a:avLst/>
              <a:gdLst>
                <a:gd name="T0" fmla="*/ 345 w 489"/>
                <a:gd name="T1" fmla="*/ 0 h 293"/>
                <a:gd name="T2" fmla="*/ 321 w 489"/>
                <a:gd name="T3" fmla="*/ 26 h 293"/>
                <a:gd name="T4" fmla="*/ 321 w 489"/>
                <a:gd name="T5" fmla="*/ 26 h 293"/>
                <a:gd name="T6" fmla="*/ 298 w 489"/>
                <a:gd name="T7" fmla="*/ 0 h 293"/>
                <a:gd name="T8" fmla="*/ 50 w 489"/>
                <a:gd name="T9" fmla="*/ 0 h 293"/>
                <a:gd name="T10" fmla="*/ 3 w 489"/>
                <a:gd name="T11" fmla="*/ 119 h 293"/>
                <a:gd name="T12" fmla="*/ 179 w 489"/>
                <a:gd name="T13" fmla="*/ 292 h 293"/>
                <a:gd name="T14" fmla="*/ 344 w 489"/>
                <a:gd name="T15" fmla="*/ 218 h 293"/>
                <a:gd name="T16" fmla="*/ 344 w 489"/>
                <a:gd name="T17" fmla="*/ 218 h 293"/>
                <a:gd name="T18" fmla="*/ 476 w 489"/>
                <a:gd name="T19" fmla="*/ 291 h 293"/>
                <a:gd name="T20" fmla="*/ 489 w 489"/>
                <a:gd name="T21" fmla="*/ 291 h 293"/>
                <a:gd name="T22" fmla="*/ 489 w 489"/>
                <a:gd name="T23" fmla="*/ 207 h 293"/>
                <a:gd name="T24" fmla="*/ 391 w 489"/>
                <a:gd name="T25" fmla="*/ 136 h 293"/>
                <a:gd name="T26" fmla="*/ 489 w 489"/>
                <a:gd name="T27" fmla="*/ 40 h 293"/>
                <a:gd name="T28" fmla="*/ 489 w 489"/>
                <a:gd name="T29" fmla="*/ 0 h 293"/>
                <a:gd name="T30" fmla="*/ 345 w 489"/>
                <a:gd name="T31" fmla="*/ 0 h 293"/>
                <a:gd name="T32" fmla="*/ 167 w 489"/>
                <a:gd name="T33" fmla="*/ 203 h 293"/>
                <a:gd name="T34" fmla="*/ 84 w 489"/>
                <a:gd name="T35" fmla="*/ 118 h 293"/>
                <a:gd name="T36" fmla="*/ 175 w 489"/>
                <a:gd name="T37" fmla="*/ 35 h 293"/>
                <a:gd name="T38" fmla="*/ 274 w 489"/>
                <a:gd name="T39" fmla="*/ 107 h 293"/>
                <a:gd name="T40" fmla="*/ 167 w 489"/>
                <a:gd name="T41" fmla="*/ 20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9" h="293">
                  <a:moveTo>
                    <a:pt x="345" y="0"/>
                  </a:moveTo>
                  <a:cubicBezTo>
                    <a:pt x="336" y="8"/>
                    <a:pt x="328" y="17"/>
                    <a:pt x="321" y="26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16" y="19"/>
                    <a:pt x="308" y="10"/>
                    <a:pt x="29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1" y="29"/>
                    <a:pt x="4" y="70"/>
                    <a:pt x="3" y="119"/>
                  </a:cubicBezTo>
                  <a:cubicBezTo>
                    <a:pt x="0" y="221"/>
                    <a:pt x="71" y="290"/>
                    <a:pt x="179" y="292"/>
                  </a:cubicBezTo>
                  <a:cubicBezTo>
                    <a:pt x="269" y="293"/>
                    <a:pt x="311" y="255"/>
                    <a:pt x="344" y="218"/>
                  </a:cubicBezTo>
                  <a:cubicBezTo>
                    <a:pt x="344" y="218"/>
                    <a:pt x="344" y="218"/>
                    <a:pt x="344" y="218"/>
                  </a:cubicBezTo>
                  <a:cubicBezTo>
                    <a:pt x="360" y="240"/>
                    <a:pt x="405" y="287"/>
                    <a:pt x="476" y="291"/>
                  </a:cubicBezTo>
                  <a:cubicBezTo>
                    <a:pt x="480" y="291"/>
                    <a:pt x="485" y="291"/>
                    <a:pt x="489" y="291"/>
                  </a:cubicBezTo>
                  <a:cubicBezTo>
                    <a:pt x="489" y="207"/>
                    <a:pt x="489" y="207"/>
                    <a:pt x="489" y="207"/>
                  </a:cubicBezTo>
                  <a:cubicBezTo>
                    <a:pt x="428" y="205"/>
                    <a:pt x="394" y="144"/>
                    <a:pt x="391" y="136"/>
                  </a:cubicBezTo>
                  <a:cubicBezTo>
                    <a:pt x="394" y="126"/>
                    <a:pt x="424" y="47"/>
                    <a:pt x="489" y="40"/>
                  </a:cubicBezTo>
                  <a:cubicBezTo>
                    <a:pt x="489" y="0"/>
                    <a:pt x="489" y="0"/>
                    <a:pt x="489" y="0"/>
                  </a:cubicBezTo>
                  <a:lnTo>
                    <a:pt x="345" y="0"/>
                  </a:lnTo>
                  <a:close/>
                  <a:moveTo>
                    <a:pt x="167" y="203"/>
                  </a:moveTo>
                  <a:cubicBezTo>
                    <a:pt x="105" y="202"/>
                    <a:pt x="83" y="157"/>
                    <a:pt x="84" y="118"/>
                  </a:cubicBezTo>
                  <a:cubicBezTo>
                    <a:pt x="85" y="64"/>
                    <a:pt x="117" y="34"/>
                    <a:pt x="175" y="35"/>
                  </a:cubicBezTo>
                  <a:cubicBezTo>
                    <a:pt x="237" y="36"/>
                    <a:pt x="271" y="98"/>
                    <a:pt x="274" y="107"/>
                  </a:cubicBezTo>
                  <a:cubicBezTo>
                    <a:pt x="272" y="118"/>
                    <a:pt x="239" y="204"/>
                    <a:pt x="167" y="203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13" name="Content Placeholder 12"/>
          <p:cNvSpPr>
            <a:spLocks noGrp="1"/>
          </p:cNvSpPr>
          <p:nvPr>
            <p:ph sz="quarter" idx="10"/>
          </p:nvPr>
        </p:nvSpPr>
        <p:spPr>
          <a:xfrm>
            <a:off x="701675" y="2041751"/>
            <a:ext cx="4194175" cy="413424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6" name="Straight Connector 15"/>
          <p:cNvCxnSpPr/>
          <p:nvPr userDrawn="1"/>
        </p:nvCxnSpPr>
        <p:spPr bwMode="gray">
          <a:xfrm>
            <a:off x="701675" y="1910989"/>
            <a:ext cx="8640000" cy="0"/>
          </a:xfrm>
          <a:prstGeom prst="line">
            <a:avLst/>
          </a:prstGeom>
          <a:ln w="952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 bwMode="gray">
          <a:xfrm>
            <a:off x="701675" y="1168227"/>
            <a:ext cx="8640000" cy="612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spcBef>
                <a:spcPct val="0"/>
              </a:spcBef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noProof="0" dirty="0">
                <a:solidFill>
                  <a:schemeClr val="tx1"/>
                </a:solidFill>
              </a:rPr>
              <a:t>Contacts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1"/>
          </p:nvPr>
        </p:nvSpPr>
        <p:spPr>
          <a:xfrm>
            <a:off x="5167313" y="2041751"/>
            <a:ext cx="4174362" cy="4149259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TextBox 9"/>
          <p:cNvSpPr txBox="1"/>
          <p:nvPr userDrawn="1"/>
        </p:nvSpPr>
        <p:spPr bwMode="gray">
          <a:xfrm>
            <a:off x="701675" y="7256257"/>
            <a:ext cx="94881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583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1" dirty="0">
                <a:solidFill>
                  <a:schemeClr val="tx1"/>
                </a:solidFill>
              </a:rPr>
              <a:t>PAGE</a:t>
            </a:r>
            <a:r>
              <a:rPr lang="en-GB" sz="600" b="1" baseline="0" dirty="0">
                <a:solidFill>
                  <a:schemeClr val="tx1"/>
                </a:solidFill>
              </a:rPr>
              <a:t> </a:t>
            </a:r>
            <a:fld id="{73D266FA-6C1B-4F94-89A2-4670EA1E26B1}" type="slidenum">
              <a:rPr lang="en-GB" sz="600" b="1" smtClean="0">
                <a:solidFill>
                  <a:schemeClr val="tx1"/>
                </a:solidFill>
              </a:rPr>
              <a:pPr marL="0" marR="0" indent="0" algn="l" defTabSz="9583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600" b="1" dirty="0">
              <a:solidFill>
                <a:schemeClr val="tx1"/>
              </a:solidFill>
            </a:endParaRP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701674" y="6925773"/>
            <a:ext cx="4697414" cy="184666"/>
          </a:xfrm>
        </p:spPr>
        <p:txBody>
          <a:bodyPr wrap="square" anchor="b">
            <a:spAutoFit/>
          </a:bodyPr>
          <a:lstStyle>
            <a:lvl1pPr>
              <a:defRPr sz="1200" cap="all" baseline="0">
                <a:solidFill>
                  <a:schemeClr val="tx1"/>
                </a:solidFill>
              </a:defRPr>
            </a:lvl1pPr>
            <a:lvl3pPr marL="0" indent="0">
              <a:buNone/>
              <a:defRPr/>
            </a:lvl3pPr>
            <a:lvl4pPr marL="180000" indent="0">
              <a:buNone/>
              <a:defRPr/>
            </a:lvl4pPr>
            <a:lvl5pPr marL="360000" indent="0">
              <a:buNone/>
              <a:defRPr/>
            </a:lvl5pPr>
          </a:lstStyle>
          <a:p>
            <a:pPr lvl="0"/>
            <a:r>
              <a:rPr lang="en-US"/>
              <a:t>Add Classification Category…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849" y="6930439"/>
            <a:ext cx="235358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02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Principal Investing 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 userDrawn="1"/>
        </p:nvGrpSpPr>
        <p:grpSpPr>
          <a:xfrm>
            <a:off x="-12422" y="0"/>
            <a:ext cx="10075585" cy="7539038"/>
            <a:chOff x="-12422" y="0"/>
            <a:chExt cx="10075585" cy="7539038"/>
          </a:xfrm>
        </p:grpSpPr>
        <p:sp>
          <p:nvSpPr>
            <p:cNvPr id="18" name="Rectangle 11"/>
            <p:cNvSpPr>
              <a:spLocks noChangeArrowheads="1"/>
            </p:cNvSpPr>
            <p:nvPr userDrawn="1"/>
          </p:nvSpPr>
          <p:spPr bwMode="auto">
            <a:xfrm>
              <a:off x="0" y="0"/>
              <a:ext cx="10063163" cy="7539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-12422" y="0"/>
              <a:ext cx="4397375" cy="7539038"/>
            </a:xfrm>
            <a:custGeom>
              <a:avLst/>
              <a:gdLst>
                <a:gd name="T0" fmla="*/ 252 w 461"/>
                <a:gd name="T1" fmla="*/ 448 h 790"/>
                <a:gd name="T2" fmla="*/ 422 w 461"/>
                <a:gd name="T3" fmla="*/ 212 h 790"/>
                <a:gd name="T4" fmla="*/ 304 w 461"/>
                <a:gd name="T5" fmla="*/ 0 h 790"/>
                <a:gd name="T6" fmla="*/ 0 w 461"/>
                <a:gd name="T7" fmla="*/ 0 h 790"/>
                <a:gd name="T8" fmla="*/ 0 w 461"/>
                <a:gd name="T9" fmla="*/ 84 h 790"/>
                <a:gd name="T10" fmla="*/ 97 w 461"/>
                <a:gd name="T11" fmla="*/ 50 h 790"/>
                <a:gd name="T12" fmla="*/ 254 w 461"/>
                <a:gd name="T13" fmla="*/ 223 h 790"/>
                <a:gd name="T14" fmla="*/ 149 w 461"/>
                <a:gd name="T15" fmla="*/ 402 h 790"/>
                <a:gd name="T16" fmla="*/ 0 w 461"/>
                <a:gd name="T17" fmla="*/ 315 h 790"/>
                <a:gd name="T18" fmla="*/ 0 w 461"/>
                <a:gd name="T19" fmla="*/ 526 h 790"/>
                <a:gd name="T20" fmla="*/ 17 w 461"/>
                <a:gd name="T21" fmla="*/ 516 h 790"/>
                <a:gd name="T22" fmla="*/ 279 w 461"/>
                <a:gd name="T23" fmla="*/ 749 h 790"/>
                <a:gd name="T24" fmla="*/ 274 w 461"/>
                <a:gd name="T25" fmla="*/ 790 h 790"/>
                <a:gd name="T26" fmla="*/ 449 w 461"/>
                <a:gd name="T27" fmla="*/ 790 h 790"/>
                <a:gd name="T28" fmla="*/ 461 w 461"/>
                <a:gd name="T29" fmla="*/ 704 h 790"/>
                <a:gd name="T30" fmla="*/ 252 w 461"/>
                <a:gd name="T31" fmla="*/ 448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1" h="790">
                  <a:moveTo>
                    <a:pt x="252" y="448"/>
                  </a:moveTo>
                  <a:cubicBezTo>
                    <a:pt x="368" y="397"/>
                    <a:pt x="422" y="311"/>
                    <a:pt x="422" y="212"/>
                  </a:cubicBezTo>
                  <a:cubicBezTo>
                    <a:pt x="422" y="123"/>
                    <a:pt x="379" y="47"/>
                    <a:pt x="3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6" y="62"/>
                    <a:pt x="59" y="50"/>
                    <a:pt x="97" y="50"/>
                  </a:cubicBezTo>
                  <a:cubicBezTo>
                    <a:pt x="189" y="50"/>
                    <a:pt x="254" y="119"/>
                    <a:pt x="254" y="223"/>
                  </a:cubicBezTo>
                  <a:cubicBezTo>
                    <a:pt x="254" y="248"/>
                    <a:pt x="251" y="321"/>
                    <a:pt x="149" y="402"/>
                  </a:cubicBezTo>
                  <a:cubicBezTo>
                    <a:pt x="82" y="373"/>
                    <a:pt x="33" y="347"/>
                    <a:pt x="0" y="315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9" y="521"/>
                    <a:pt x="17" y="516"/>
                    <a:pt x="17" y="516"/>
                  </a:cubicBezTo>
                  <a:cubicBezTo>
                    <a:pt x="191" y="587"/>
                    <a:pt x="279" y="643"/>
                    <a:pt x="279" y="749"/>
                  </a:cubicBezTo>
                  <a:cubicBezTo>
                    <a:pt x="279" y="763"/>
                    <a:pt x="277" y="777"/>
                    <a:pt x="274" y="790"/>
                  </a:cubicBezTo>
                  <a:cubicBezTo>
                    <a:pt x="449" y="790"/>
                    <a:pt x="449" y="790"/>
                    <a:pt x="449" y="790"/>
                  </a:cubicBezTo>
                  <a:cubicBezTo>
                    <a:pt x="457" y="763"/>
                    <a:pt x="461" y="734"/>
                    <a:pt x="461" y="704"/>
                  </a:cubicBezTo>
                  <a:cubicBezTo>
                    <a:pt x="461" y="585"/>
                    <a:pt x="399" y="502"/>
                    <a:pt x="252" y="448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13"/>
            <p:cNvSpPr>
              <a:spLocks noEditPoints="1"/>
            </p:cNvSpPr>
            <p:nvPr userDrawn="1"/>
          </p:nvSpPr>
          <p:spPr bwMode="auto">
            <a:xfrm>
              <a:off x="5399088" y="0"/>
              <a:ext cx="4664075" cy="2795588"/>
            </a:xfrm>
            <a:custGeom>
              <a:avLst/>
              <a:gdLst>
                <a:gd name="T0" fmla="*/ 345 w 489"/>
                <a:gd name="T1" fmla="*/ 0 h 293"/>
                <a:gd name="T2" fmla="*/ 321 w 489"/>
                <a:gd name="T3" fmla="*/ 26 h 293"/>
                <a:gd name="T4" fmla="*/ 321 w 489"/>
                <a:gd name="T5" fmla="*/ 26 h 293"/>
                <a:gd name="T6" fmla="*/ 298 w 489"/>
                <a:gd name="T7" fmla="*/ 0 h 293"/>
                <a:gd name="T8" fmla="*/ 50 w 489"/>
                <a:gd name="T9" fmla="*/ 0 h 293"/>
                <a:gd name="T10" fmla="*/ 3 w 489"/>
                <a:gd name="T11" fmla="*/ 119 h 293"/>
                <a:gd name="T12" fmla="*/ 179 w 489"/>
                <a:gd name="T13" fmla="*/ 292 h 293"/>
                <a:gd name="T14" fmla="*/ 344 w 489"/>
                <a:gd name="T15" fmla="*/ 218 h 293"/>
                <a:gd name="T16" fmla="*/ 344 w 489"/>
                <a:gd name="T17" fmla="*/ 218 h 293"/>
                <a:gd name="T18" fmla="*/ 476 w 489"/>
                <a:gd name="T19" fmla="*/ 291 h 293"/>
                <a:gd name="T20" fmla="*/ 489 w 489"/>
                <a:gd name="T21" fmla="*/ 291 h 293"/>
                <a:gd name="T22" fmla="*/ 489 w 489"/>
                <a:gd name="T23" fmla="*/ 207 h 293"/>
                <a:gd name="T24" fmla="*/ 391 w 489"/>
                <a:gd name="T25" fmla="*/ 136 h 293"/>
                <a:gd name="T26" fmla="*/ 489 w 489"/>
                <a:gd name="T27" fmla="*/ 40 h 293"/>
                <a:gd name="T28" fmla="*/ 489 w 489"/>
                <a:gd name="T29" fmla="*/ 0 h 293"/>
                <a:gd name="T30" fmla="*/ 345 w 489"/>
                <a:gd name="T31" fmla="*/ 0 h 293"/>
                <a:gd name="T32" fmla="*/ 167 w 489"/>
                <a:gd name="T33" fmla="*/ 203 h 293"/>
                <a:gd name="T34" fmla="*/ 84 w 489"/>
                <a:gd name="T35" fmla="*/ 118 h 293"/>
                <a:gd name="T36" fmla="*/ 175 w 489"/>
                <a:gd name="T37" fmla="*/ 35 h 293"/>
                <a:gd name="T38" fmla="*/ 274 w 489"/>
                <a:gd name="T39" fmla="*/ 107 h 293"/>
                <a:gd name="T40" fmla="*/ 167 w 489"/>
                <a:gd name="T41" fmla="*/ 20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9" h="293">
                  <a:moveTo>
                    <a:pt x="345" y="0"/>
                  </a:moveTo>
                  <a:cubicBezTo>
                    <a:pt x="336" y="8"/>
                    <a:pt x="328" y="17"/>
                    <a:pt x="321" y="26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16" y="19"/>
                    <a:pt x="308" y="10"/>
                    <a:pt x="29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1" y="29"/>
                    <a:pt x="4" y="70"/>
                    <a:pt x="3" y="119"/>
                  </a:cubicBezTo>
                  <a:cubicBezTo>
                    <a:pt x="0" y="221"/>
                    <a:pt x="71" y="290"/>
                    <a:pt x="179" y="292"/>
                  </a:cubicBezTo>
                  <a:cubicBezTo>
                    <a:pt x="269" y="293"/>
                    <a:pt x="311" y="255"/>
                    <a:pt x="344" y="218"/>
                  </a:cubicBezTo>
                  <a:cubicBezTo>
                    <a:pt x="344" y="218"/>
                    <a:pt x="344" y="218"/>
                    <a:pt x="344" y="218"/>
                  </a:cubicBezTo>
                  <a:cubicBezTo>
                    <a:pt x="360" y="240"/>
                    <a:pt x="405" y="287"/>
                    <a:pt x="476" y="291"/>
                  </a:cubicBezTo>
                  <a:cubicBezTo>
                    <a:pt x="480" y="291"/>
                    <a:pt x="485" y="291"/>
                    <a:pt x="489" y="291"/>
                  </a:cubicBezTo>
                  <a:cubicBezTo>
                    <a:pt x="489" y="207"/>
                    <a:pt x="489" y="207"/>
                    <a:pt x="489" y="207"/>
                  </a:cubicBezTo>
                  <a:cubicBezTo>
                    <a:pt x="428" y="205"/>
                    <a:pt x="394" y="144"/>
                    <a:pt x="391" y="136"/>
                  </a:cubicBezTo>
                  <a:cubicBezTo>
                    <a:pt x="394" y="126"/>
                    <a:pt x="424" y="47"/>
                    <a:pt x="489" y="40"/>
                  </a:cubicBezTo>
                  <a:cubicBezTo>
                    <a:pt x="489" y="0"/>
                    <a:pt x="489" y="0"/>
                    <a:pt x="489" y="0"/>
                  </a:cubicBezTo>
                  <a:lnTo>
                    <a:pt x="345" y="0"/>
                  </a:lnTo>
                  <a:close/>
                  <a:moveTo>
                    <a:pt x="167" y="203"/>
                  </a:moveTo>
                  <a:cubicBezTo>
                    <a:pt x="105" y="202"/>
                    <a:pt x="83" y="157"/>
                    <a:pt x="84" y="118"/>
                  </a:cubicBezTo>
                  <a:cubicBezTo>
                    <a:pt x="85" y="64"/>
                    <a:pt x="117" y="34"/>
                    <a:pt x="175" y="35"/>
                  </a:cubicBezTo>
                  <a:cubicBezTo>
                    <a:pt x="237" y="36"/>
                    <a:pt x="271" y="98"/>
                    <a:pt x="274" y="107"/>
                  </a:cubicBezTo>
                  <a:cubicBezTo>
                    <a:pt x="272" y="118"/>
                    <a:pt x="239" y="204"/>
                    <a:pt x="167" y="203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850" y="2189245"/>
            <a:ext cx="8640000" cy="1384995"/>
          </a:xfrm>
        </p:spPr>
        <p:txBody>
          <a:bodyPr>
            <a:noAutofit/>
          </a:bodyPr>
          <a:lstStyle>
            <a:lvl1pPr algn="l">
              <a:defRPr sz="24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2850" y="3943684"/>
            <a:ext cx="8640000" cy="1386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400">
                <a:solidFill>
                  <a:schemeClr val="accent2"/>
                </a:solidFill>
                <a:latin typeface="+mj-lt"/>
              </a:defRPr>
            </a:lvl2pPr>
            <a:lvl3pPr marL="958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7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6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5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51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4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3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6" name="Straight Connector 15"/>
          <p:cNvCxnSpPr/>
          <p:nvPr userDrawn="1"/>
        </p:nvCxnSpPr>
        <p:spPr bwMode="gray">
          <a:xfrm>
            <a:off x="10423450" y="1094730"/>
            <a:ext cx="792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 userDrawn="1"/>
        </p:nvSpPr>
        <p:spPr>
          <a:xfrm>
            <a:off x="11182294" y="956231"/>
            <a:ext cx="22654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indent="0">
              <a:spcBef>
                <a:spcPts val="600"/>
              </a:spcBef>
              <a:spcAft>
                <a:spcPts val="600"/>
              </a:spcAft>
              <a:buClr>
                <a:srgbClr val="A2978A"/>
              </a:buClr>
              <a:buFontTx/>
              <a:buNone/>
              <a:tabLst>
                <a:tab pos="9504000" algn="r"/>
              </a:tabLst>
            </a:pPr>
            <a:r>
              <a:rPr lang="en-GB" sz="1100" dirty="0">
                <a:solidFill>
                  <a:srgbClr val="707372"/>
                </a:solidFill>
              </a:rPr>
              <a:t>Principal Investing – green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01674" y="6938499"/>
            <a:ext cx="4697414" cy="184666"/>
          </a:xfrm>
        </p:spPr>
        <p:txBody>
          <a:bodyPr wrap="square" anchor="b">
            <a:spAutoFit/>
          </a:bodyPr>
          <a:lstStyle>
            <a:lvl1pPr>
              <a:defRPr sz="1200" cap="all" baseline="0">
                <a:solidFill>
                  <a:schemeClr val="tx1"/>
                </a:solidFill>
              </a:defRPr>
            </a:lvl1pPr>
            <a:lvl3pPr marL="0" indent="0">
              <a:buNone/>
              <a:defRPr/>
            </a:lvl3pPr>
            <a:lvl4pPr marL="180000" indent="0">
              <a:buNone/>
              <a:defRPr/>
            </a:lvl4pPr>
            <a:lvl5pPr marL="360000" indent="0">
              <a:buNone/>
              <a:defRPr/>
            </a:lvl5pPr>
          </a:lstStyle>
          <a:p>
            <a:pPr lvl="0"/>
            <a:r>
              <a:rPr lang="en-US"/>
              <a:t>Add Classification Category…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849" y="6930439"/>
            <a:ext cx="235358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82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Ventures China - 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 userDrawn="1"/>
        </p:nvGrpSpPr>
        <p:grpSpPr>
          <a:xfrm>
            <a:off x="-12422" y="0"/>
            <a:ext cx="10075585" cy="7539038"/>
            <a:chOff x="-12422" y="0"/>
            <a:chExt cx="10075585" cy="7539038"/>
          </a:xfrm>
        </p:grpSpPr>
        <p:sp>
          <p:nvSpPr>
            <p:cNvPr id="18" name="Rectangle 11"/>
            <p:cNvSpPr>
              <a:spLocks noChangeArrowheads="1"/>
            </p:cNvSpPr>
            <p:nvPr userDrawn="1"/>
          </p:nvSpPr>
          <p:spPr bwMode="auto">
            <a:xfrm>
              <a:off x="0" y="0"/>
              <a:ext cx="10063163" cy="7539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-12422" y="0"/>
              <a:ext cx="4397375" cy="7539038"/>
            </a:xfrm>
            <a:custGeom>
              <a:avLst/>
              <a:gdLst>
                <a:gd name="T0" fmla="*/ 252 w 461"/>
                <a:gd name="T1" fmla="*/ 448 h 790"/>
                <a:gd name="T2" fmla="*/ 422 w 461"/>
                <a:gd name="T3" fmla="*/ 212 h 790"/>
                <a:gd name="T4" fmla="*/ 304 w 461"/>
                <a:gd name="T5" fmla="*/ 0 h 790"/>
                <a:gd name="T6" fmla="*/ 0 w 461"/>
                <a:gd name="T7" fmla="*/ 0 h 790"/>
                <a:gd name="T8" fmla="*/ 0 w 461"/>
                <a:gd name="T9" fmla="*/ 84 h 790"/>
                <a:gd name="T10" fmla="*/ 97 w 461"/>
                <a:gd name="T11" fmla="*/ 50 h 790"/>
                <a:gd name="T12" fmla="*/ 254 w 461"/>
                <a:gd name="T13" fmla="*/ 223 h 790"/>
                <a:gd name="T14" fmla="*/ 149 w 461"/>
                <a:gd name="T15" fmla="*/ 402 h 790"/>
                <a:gd name="T16" fmla="*/ 0 w 461"/>
                <a:gd name="T17" fmla="*/ 315 h 790"/>
                <a:gd name="T18" fmla="*/ 0 w 461"/>
                <a:gd name="T19" fmla="*/ 526 h 790"/>
                <a:gd name="T20" fmla="*/ 17 w 461"/>
                <a:gd name="T21" fmla="*/ 516 h 790"/>
                <a:gd name="T22" fmla="*/ 279 w 461"/>
                <a:gd name="T23" fmla="*/ 749 h 790"/>
                <a:gd name="T24" fmla="*/ 274 w 461"/>
                <a:gd name="T25" fmla="*/ 790 h 790"/>
                <a:gd name="T26" fmla="*/ 449 w 461"/>
                <a:gd name="T27" fmla="*/ 790 h 790"/>
                <a:gd name="T28" fmla="*/ 461 w 461"/>
                <a:gd name="T29" fmla="*/ 704 h 790"/>
                <a:gd name="T30" fmla="*/ 252 w 461"/>
                <a:gd name="T31" fmla="*/ 448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1" h="790">
                  <a:moveTo>
                    <a:pt x="252" y="448"/>
                  </a:moveTo>
                  <a:cubicBezTo>
                    <a:pt x="368" y="397"/>
                    <a:pt x="422" y="311"/>
                    <a:pt x="422" y="212"/>
                  </a:cubicBezTo>
                  <a:cubicBezTo>
                    <a:pt x="422" y="123"/>
                    <a:pt x="379" y="47"/>
                    <a:pt x="3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6" y="62"/>
                    <a:pt x="59" y="50"/>
                    <a:pt x="97" y="50"/>
                  </a:cubicBezTo>
                  <a:cubicBezTo>
                    <a:pt x="189" y="50"/>
                    <a:pt x="254" y="119"/>
                    <a:pt x="254" y="223"/>
                  </a:cubicBezTo>
                  <a:cubicBezTo>
                    <a:pt x="254" y="248"/>
                    <a:pt x="251" y="321"/>
                    <a:pt x="149" y="402"/>
                  </a:cubicBezTo>
                  <a:cubicBezTo>
                    <a:pt x="82" y="373"/>
                    <a:pt x="33" y="347"/>
                    <a:pt x="0" y="315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9" y="521"/>
                    <a:pt x="17" y="516"/>
                    <a:pt x="17" y="516"/>
                  </a:cubicBezTo>
                  <a:cubicBezTo>
                    <a:pt x="191" y="587"/>
                    <a:pt x="279" y="643"/>
                    <a:pt x="279" y="749"/>
                  </a:cubicBezTo>
                  <a:cubicBezTo>
                    <a:pt x="279" y="763"/>
                    <a:pt x="277" y="777"/>
                    <a:pt x="274" y="790"/>
                  </a:cubicBezTo>
                  <a:cubicBezTo>
                    <a:pt x="449" y="790"/>
                    <a:pt x="449" y="790"/>
                    <a:pt x="449" y="790"/>
                  </a:cubicBezTo>
                  <a:cubicBezTo>
                    <a:pt x="457" y="763"/>
                    <a:pt x="461" y="734"/>
                    <a:pt x="461" y="704"/>
                  </a:cubicBezTo>
                  <a:cubicBezTo>
                    <a:pt x="461" y="585"/>
                    <a:pt x="399" y="502"/>
                    <a:pt x="252" y="448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sp>
          <p:nvSpPr>
            <p:cNvPr id="20" name="Freeform 13"/>
            <p:cNvSpPr>
              <a:spLocks noEditPoints="1"/>
            </p:cNvSpPr>
            <p:nvPr userDrawn="1"/>
          </p:nvSpPr>
          <p:spPr bwMode="auto">
            <a:xfrm>
              <a:off x="5399088" y="0"/>
              <a:ext cx="4664075" cy="2795588"/>
            </a:xfrm>
            <a:custGeom>
              <a:avLst/>
              <a:gdLst>
                <a:gd name="T0" fmla="*/ 345 w 489"/>
                <a:gd name="T1" fmla="*/ 0 h 293"/>
                <a:gd name="T2" fmla="*/ 321 w 489"/>
                <a:gd name="T3" fmla="*/ 26 h 293"/>
                <a:gd name="T4" fmla="*/ 321 w 489"/>
                <a:gd name="T5" fmla="*/ 26 h 293"/>
                <a:gd name="T6" fmla="*/ 298 w 489"/>
                <a:gd name="T7" fmla="*/ 0 h 293"/>
                <a:gd name="T8" fmla="*/ 50 w 489"/>
                <a:gd name="T9" fmla="*/ 0 h 293"/>
                <a:gd name="T10" fmla="*/ 3 w 489"/>
                <a:gd name="T11" fmla="*/ 119 h 293"/>
                <a:gd name="T12" fmla="*/ 179 w 489"/>
                <a:gd name="T13" fmla="*/ 292 h 293"/>
                <a:gd name="T14" fmla="*/ 344 w 489"/>
                <a:gd name="T15" fmla="*/ 218 h 293"/>
                <a:gd name="T16" fmla="*/ 344 w 489"/>
                <a:gd name="T17" fmla="*/ 218 h 293"/>
                <a:gd name="T18" fmla="*/ 476 w 489"/>
                <a:gd name="T19" fmla="*/ 291 h 293"/>
                <a:gd name="T20" fmla="*/ 489 w 489"/>
                <a:gd name="T21" fmla="*/ 291 h 293"/>
                <a:gd name="T22" fmla="*/ 489 w 489"/>
                <a:gd name="T23" fmla="*/ 207 h 293"/>
                <a:gd name="T24" fmla="*/ 391 w 489"/>
                <a:gd name="T25" fmla="*/ 136 h 293"/>
                <a:gd name="T26" fmla="*/ 489 w 489"/>
                <a:gd name="T27" fmla="*/ 40 h 293"/>
                <a:gd name="T28" fmla="*/ 489 w 489"/>
                <a:gd name="T29" fmla="*/ 0 h 293"/>
                <a:gd name="T30" fmla="*/ 345 w 489"/>
                <a:gd name="T31" fmla="*/ 0 h 293"/>
                <a:gd name="T32" fmla="*/ 167 w 489"/>
                <a:gd name="T33" fmla="*/ 203 h 293"/>
                <a:gd name="T34" fmla="*/ 84 w 489"/>
                <a:gd name="T35" fmla="*/ 118 h 293"/>
                <a:gd name="T36" fmla="*/ 175 w 489"/>
                <a:gd name="T37" fmla="*/ 35 h 293"/>
                <a:gd name="T38" fmla="*/ 274 w 489"/>
                <a:gd name="T39" fmla="*/ 107 h 293"/>
                <a:gd name="T40" fmla="*/ 167 w 489"/>
                <a:gd name="T41" fmla="*/ 20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9" h="293">
                  <a:moveTo>
                    <a:pt x="345" y="0"/>
                  </a:moveTo>
                  <a:cubicBezTo>
                    <a:pt x="336" y="8"/>
                    <a:pt x="328" y="17"/>
                    <a:pt x="321" y="26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16" y="19"/>
                    <a:pt x="308" y="10"/>
                    <a:pt x="29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1" y="29"/>
                    <a:pt x="4" y="70"/>
                    <a:pt x="3" y="119"/>
                  </a:cubicBezTo>
                  <a:cubicBezTo>
                    <a:pt x="0" y="221"/>
                    <a:pt x="71" y="290"/>
                    <a:pt x="179" y="292"/>
                  </a:cubicBezTo>
                  <a:cubicBezTo>
                    <a:pt x="269" y="293"/>
                    <a:pt x="311" y="255"/>
                    <a:pt x="344" y="218"/>
                  </a:cubicBezTo>
                  <a:cubicBezTo>
                    <a:pt x="344" y="218"/>
                    <a:pt x="344" y="218"/>
                    <a:pt x="344" y="218"/>
                  </a:cubicBezTo>
                  <a:cubicBezTo>
                    <a:pt x="360" y="240"/>
                    <a:pt x="405" y="287"/>
                    <a:pt x="476" y="291"/>
                  </a:cubicBezTo>
                  <a:cubicBezTo>
                    <a:pt x="480" y="291"/>
                    <a:pt x="485" y="291"/>
                    <a:pt x="489" y="291"/>
                  </a:cubicBezTo>
                  <a:cubicBezTo>
                    <a:pt x="489" y="207"/>
                    <a:pt x="489" y="207"/>
                    <a:pt x="489" y="207"/>
                  </a:cubicBezTo>
                  <a:cubicBezTo>
                    <a:pt x="428" y="205"/>
                    <a:pt x="394" y="144"/>
                    <a:pt x="391" y="136"/>
                  </a:cubicBezTo>
                  <a:cubicBezTo>
                    <a:pt x="394" y="126"/>
                    <a:pt x="424" y="47"/>
                    <a:pt x="489" y="40"/>
                  </a:cubicBezTo>
                  <a:cubicBezTo>
                    <a:pt x="489" y="0"/>
                    <a:pt x="489" y="0"/>
                    <a:pt x="489" y="0"/>
                  </a:cubicBezTo>
                  <a:lnTo>
                    <a:pt x="345" y="0"/>
                  </a:lnTo>
                  <a:close/>
                  <a:moveTo>
                    <a:pt x="167" y="203"/>
                  </a:moveTo>
                  <a:cubicBezTo>
                    <a:pt x="105" y="202"/>
                    <a:pt x="83" y="157"/>
                    <a:pt x="84" y="118"/>
                  </a:cubicBezTo>
                  <a:cubicBezTo>
                    <a:pt x="85" y="64"/>
                    <a:pt x="117" y="34"/>
                    <a:pt x="175" y="35"/>
                  </a:cubicBezTo>
                  <a:cubicBezTo>
                    <a:pt x="237" y="36"/>
                    <a:pt x="271" y="98"/>
                    <a:pt x="274" y="107"/>
                  </a:cubicBezTo>
                  <a:cubicBezTo>
                    <a:pt x="272" y="118"/>
                    <a:pt x="239" y="204"/>
                    <a:pt x="167" y="203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850" y="2189245"/>
            <a:ext cx="8640000" cy="1384995"/>
          </a:xfrm>
        </p:spPr>
        <p:txBody>
          <a:bodyPr>
            <a:noAutofit/>
          </a:bodyPr>
          <a:lstStyle>
            <a:lvl1pPr algn="l">
              <a:defRPr sz="24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2850" y="3943684"/>
            <a:ext cx="8640000" cy="1386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400">
                <a:solidFill>
                  <a:schemeClr val="accent2"/>
                </a:solidFill>
                <a:latin typeface="+mj-lt"/>
              </a:defRPr>
            </a:lvl2pPr>
            <a:lvl3pPr marL="958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7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6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5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51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4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3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0" name="Straight Connector 9"/>
          <p:cNvCxnSpPr/>
          <p:nvPr userDrawn="1"/>
        </p:nvCxnSpPr>
        <p:spPr bwMode="gray">
          <a:xfrm>
            <a:off x="10423450" y="1094730"/>
            <a:ext cx="792000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 userDrawn="1"/>
        </p:nvSpPr>
        <p:spPr>
          <a:xfrm>
            <a:off x="11182294" y="956231"/>
            <a:ext cx="1980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 indent="0">
              <a:spcBef>
                <a:spcPts val="600"/>
              </a:spcBef>
              <a:spcAft>
                <a:spcPts val="600"/>
              </a:spcAft>
              <a:buClr>
                <a:srgbClr val="A2978A"/>
              </a:buClr>
              <a:buFontTx/>
              <a:buNone/>
              <a:tabLst>
                <a:tab pos="9504000" algn="r"/>
              </a:tabLst>
            </a:pPr>
            <a:r>
              <a:rPr lang="en-GB" sz="1100" dirty="0">
                <a:solidFill>
                  <a:srgbClr val="707372"/>
                </a:solidFill>
              </a:rPr>
              <a:t>Ventures China – red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01674" y="6938499"/>
            <a:ext cx="4697414" cy="184666"/>
          </a:xfrm>
        </p:spPr>
        <p:txBody>
          <a:bodyPr wrap="square" anchor="b">
            <a:spAutoFit/>
          </a:bodyPr>
          <a:lstStyle>
            <a:lvl1pPr>
              <a:defRPr sz="1200" cap="all" baseline="0">
                <a:solidFill>
                  <a:schemeClr val="tx1"/>
                </a:solidFill>
              </a:defRPr>
            </a:lvl1pPr>
            <a:lvl3pPr marL="0" indent="0">
              <a:buNone/>
              <a:defRPr/>
            </a:lvl3pPr>
            <a:lvl4pPr marL="180000" indent="0">
              <a:buNone/>
              <a:defRPr/>
            </a:lvl4pPr>
            <a:lvl5pPr marL="360000" indent="0">
              <a:buNone/>
              <a:defRPr/>
            </a:lvl5pPr>
          </a:lstStyle>
          <a:p>
            <a:pPr lvl="0"/>
            <a:r>
              <a:rPr lang="en-US"/>
              <a:t>Add Classification Category… 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849" y="6930439"/>
            <a:ext cx="235358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31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Ventures India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 userDrawn="1"/>
        </p:nvGrpSpPr>
        <p:grpSpPr>
          <a:xfrm>
            <a:off x="-12422" y="0"/>
            <a:ext cx="10075585" cy="7539038"/>
            <a:chOff x="-12422" y="0"/>
            <a:chExt cx="10075585" cy="7539038"/>
          </a:xfrm>
        </p:grpSpPr>
        <p:sp>
          <p:nvSpPr>
            <p:cNvPr id="18" name="Rectangle 11"/>
            <p:cNvSpPr>
              <a:spLocks noChangeArrowheads="1"/>
            </p:cNvSpPr>
            <p:nvPr userDrawn="1"/>
          </p:nvSpPr>
          <p:spPr bwMode="auto">
            <a:xfrm>
              <a:off x="0" y="0"/>
              <a:ext cx="10063163" cy="7539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-12422" y="0"/>
              <a:ext cx="4397375" cy="7539038"/>
            </a:xfrm>
            <a:custGeom>
              <a:avLst/>
              <a:gdLst>
                <a:gd name="T0" fmla="*/ 252 w 461"/>
                <a:gd name="T1" fmla="*/ 448 h 790"/>
                <a:gd name="T2" fmla="*/ 422 w 461"/>
                <a:gd name="T3" fmla="*/ 212 h 790"/>
                <a:gd name="T4" fmla="*/ 304 w 461"/>
                <a:gd name="T5" fmla="*/ 0 h 790"/>
                <a:gd name="T6" fmla="*/ 0 w 461"/>
                <a:gd name="T7" fmla="*/ 0 h 790"/>
                <a:gd name="T8" fmla="*/ 0 w 461"/>
                <a:gd name="T9" fmla="*/ 84 h 790"/>
                <a:gd name="T10" fmla="*/ 97 w 461"/>
                <a:gd name="T11" fmla="*/ 50 h 790"/>
                <a:gd name="T12" fmla="*/ 254 w 461"/>
                <a:gd name="T13" fmla="*/ 223 h 790"/>
                <a:gd name="T14" fmla="*/ 149 w 461"/>
                <a:gd name="T15" fmla="*/ 402 h 790"/>
                <a:gd name="T16" fmla="*/ 0 w 461"/>
                <a:gd name="T17" fmla="*/ 315 h 790"/>
                <a:gd name="T18" fmla="*/ 0 w 461"/>
                <a:gd name="T19" fmla="*/ 526 h 790"/>
                <a:gd name="T20" fmla="*/ 17 w 461"/>
                <a:gd name="T21" fmla="*/ 516 h 790"/>
                <a:gd name="T22" fmla="*/ 279 w 461"/>
                <a:gd name="T23" fmla="*/ 749 h 790"/>
                <a:gd name="T24" fmla="*/ 274 w 461"/>
                <a:gd name="T25" fmla="*/ 790 h 790"/>
                <a:gd name="T26" fmla="*/ 449 w 461"/>
                <a:gd name="T27" fmla="*/ 790 h 790"/>
                <a:gd name="T28" fmla="*/ 461 w 461"/>
                <a:gd name="T29" fmla="*/ 704 h 790"/>
                <a:gd name="T30" fmla="*/ 252 w 461"/>
                <a:gd name="T31" fmla="*/ 448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1" h="790">
                  <a:moveTo>
                    <a:pt x="252" y="448"/>
                  </a:moveTo>
                  <a:cubicBezTo>
                    <a:pt x="368" y="397"/>
                    <a:pt x="422" y="311"/>
                    <a:pt x="422" y="212"/>
                  </a:cubicBezTo>
                  <a:cubicBezTo>
                    <a:pt x="422" y="123"/>
                    <a:pt x="379" y="47"/>
                    <a:pt x="3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6" y="62"/>
                    <a:pt x="59" y="50"/>
                    <a:pt x="97" y="50"/>
                  </a:cubicBezTo>
                  <a:cubicBezTo>
                    <a:pt x="189" y="50"/>
                    <a:pt x="254" y="119"/>
                    <a:pt x="254" y="223"/>
                  </a:cubicBezTo>
                  <a:cubicBezTo>
                    <a:pt x="254" y="248"/>
                    <a:pt x="251" y="321"/>
                    <a:pt x="149" y="402"/>
                  </a:cubicBezTo>
                  <a:cubicBezTo>
                    <a:pt x="82" y="373"/>
                    <a:pt x="33" y="347"/>
                    <a:pt x="0" y="315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9" y="521"/>
                    <a:pt x="17" y="516"/>
                    <a:pt x="17" y="516"/>
                  </a:cubicBezTo>
                  <a:cubicBezTo>
                    <a:pt x="191" y="587"/>
                    <a:pt x="279" y="643"/>
                    <a:pt x="279" y="749"/>
                  </a:cubicBezTo>
                  <a:cubicBezTo>
                    <a:pt x="279" y="763"/>
                    <a:pt x="277" y="777"/>
                    <a:pt x="274" y="790"/>
                  </a:cubicBezTo>
                  <a:cubicBezTo>
                    <a:pt x="449" y="790"/>
                    <a:pt x="449" y="790"/>
                    <a:pt x="449" y="790"/>
                  </a:cubicBezTo>
                  <a:cubicBezTo>
                    <a:pt x="457" y="763"/>
                    <a:pt x="461" y="734"/>
                    <a:pt x="461" y="704"/>
                  </a:cubicBezTo>
                  <a:cubicBezTo>
                    <a:pt x="461" y="585"/>
                    <a:pt x="399" y="502"/>
                    <a:pt x="252" y="448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13"/>
            <p:cNvSpPr>
              <a:spLocks noEditPoints="1"/>
            </p:cNvSpPr>
            <p:nvPr userDrawn="1"/>
          </p:nvSpPr>
          <p:spPr bwMode="auto">
            <a:xfrm>
              <a:off x="5399088" y="0"/>
              <a:ext cx="4664075" cy="2795588"/>
            </a:xfrm>
            <a:custGeom>
              <a:avLst/>
              <a:gdLst>
                <a:gd name="T0" fmla="*/ 345 w 489"/>
                <a:gd name="T1" fmla="*/ 0 h 293"/>
                <a:gd name="T2" fmla="*/ 321 w 489"/>
                <a:gd name="T3" fmla="*/ 26 h 293"/>
                <a:gd name="T4" fmla="*/ 321 w 489"/>
                <a:gd name="T5" fmla="*/ 26 h 293"/>
                <a:gd name="T6" fmla="*/ 298 w 489"/>
                <a:gd name="T7" fmla="*/ 0 h 293"/>
                <a:gd name="T8" fmla="*/ 50 w 489"/>
                <a:gd name="T9" fmla="*/ 0 h 293"/>
                <a:gd name="T10" fmla="*/ 3 w 489"/>
                <a:gd name="T11" fmla="*/ 119 h 293"/>
                <a:gd name="T12" fmla="*/ 179 w 489"/>
                <a:gd name="T13" fmla="*/ 292 h 293"/>
                <a:gd name="T14" fmla="*/ 344 w 489"/>
                <a:gd name="T15" fmla="*/ 218 h 293"/>
                <a:gd name="T16" fmla="*/ 344 w 489"/>
                <a:gd name="T17" fmla="*/ 218 h 293"/>
                <a:gd name="T18" fmla="*/ 476 w 489"/>
                <a:gd name="T19" fmla="*/ 291 h 293"/>
                <a:gd name="T20" fmla="*/ 489 w 489"/>
                <a:gd name="T21" fmla="*/ 291 h 293"/>
                <a:gd name="T22" fmla="*/ 489 w 489"/>
                <a:gd name="T23" fmla="*/ 207 h 293"/>
                <a:gd name="T24" fmla="*/ 391 w 489"/>
                <a:gd name="T25" fmla="*/ 136 h 293"/>
                <a:gd name="T26" fmla="*/ 489 w 489"/>
                <a:gd name="T27" fmla="*/ 40 h 293"/>
                <a:gd name="T28" fmla="*/ 489 w 489"/>
                <a:gd name="T29" fmla="*/ 0 h 293"/>
                <a:gd name="T30" fmla="*/ 345 w 489"/>
                <a:gd name="T31" fmla="*/ 0 h 293"/>
                <a:gd name="T32" fmla="*/ 167 w 489"/>
                <a:gd name="T33" fmla="*/ 203 h 293"/>
                <a:gd name="T34" fmla="*/ 84 w 489"/>
                <a:gd name="T35" fmla="*/ 118 h 293"/>
                <a:gd name="T36" fmla="*/ 175 w 489"/>
                <a:gd name="T37" fmla="*/ 35 h 293"/>
                <a:gd name="T38" fmla="*/ 274 w 489"/>
                <a:gd name="T39" fmla="*/ 107 h 293"/>
                <a:gd name="T40" fmla="*/ 167 w 489"/>
                <a:gd name="T41" fmla="*/ 20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9" h="293">
                  <a:moveTo>
                    <a:pt x="345" y="0"/>
                  </a:moveTo>
                  <a:cubicBezTo>
                    <a:pt x="336" y="8"/>
                    <a:pt x="328" y="17"/>
                    <a:pt x="321" y="26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16" y="19"/>
                    <a:pt x="308" y="10"/>
                    <a:pt x="29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1" y="29"/>
                    <a:pt x="4" y="70"/>
                    <a:pt x="3" y="119"/>
                  </a:cubicBezTo>
                  <a:cubicBezTo>
                    <a:pt x="0" y="221"/>
                    <a:pt x="71" y="290"/>
                    <a:pt x="179" y="292"/>
                  </a:cubicBezTo>
                  <a:cubicBezTo>
                    <a:pt x="269" y="293"/>
                    <a:pt x="311" y="255"/>
                    <a:pt x="344" y="218"/>
                  </a:cubicBezTo>
                  <a:cubicBezTo>
                    <a:pt x="344" y="218"/>
                    <a:pt x="344" y="218"/>
                    <a:pt x="344" y="218"/>
                  </a:cubicBezTo>
                  <a:cubicBezTo>
                    <a:pt x="360" y="240"/>
                    <a:pt x="405" y="287"/>
                    <a:pt x="476" y="291"/>
                  </a:cubicBezTo>
                  <a:cubicBezTo>
                    <a:pt x="480" y="291"/>
                    <a:pt x="485" y="291"/>
                    <a:pt x="489" y="291"/>
                  </a:cubicBezTo>
                  <a:cubicBezTo>
                    <a:pt x="489" y="207"/>
                    <a:pt x="489" y="207"/>
                    <a:pt x="489" y="207"/>
                  </a:cubicBezTo>
                  <a:cubicBezTo>
                    <a:pt x="428" y="205"/>
                    <a:pt x="394" y="144"/>
                    <a:pt x="391" y="136"/>
                  </a:cubicBezTo>
                  <a:cubicBezTo>
                    <a:pt x="394" y="126"/>
                    <a:pt x="424" y="47"/>
                    <a:pt x="489" y="40"/>
                  </a:cubicBezTo>
                  <a:cubicBezTo>
                    <a:pt x="489" y="0"/>
                    <a:pt x="489" y="0"/>
                    <a:pt x="489" y="0"/>
                  </a:cubicBezTo>
                  <a:lnTo>
                    <a:pt x="345" y="0"/>
                  </a:lnTo>
                  <a:close/>
                  <a:moveTo>
                    <a:pt x="167" y="203"/>
                  </a:moveTo>
                  <a:cubicBezTo>
                    <a:pt x="105" y="202"/>
                    <a:pt x="83" y="157"/>
                    <a:pt x="84" y="118"/>
                  </a:cubicBezTo>
                  <a:cubicBezTo>
                    <a:pt x="85" y="64"/>
                    <a:pt x="117" y="34"/>
                    <a:pt x="175" y="35"/>
                  </a:cubicBezTo>
                  <a:cubicBezTo>
                    <a:pt x="237" y="36"/>
                    <a:pt x="271" y="98"/>
                    <a:pt x="274" y="107"/>
                  </a:cubicBezTo>
                  <a:cubicBezTo>
                    <a:pt x="272" y="118"/>
                    <a:pt x="239" y="204"/>
                    <a:pt x="167" y="203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850" y="2189245"/>
            <a:ext cx="8640000" cy="1384995"/>
          </a:xfrm>
        </p:spPr>
        <p:txBody>
          <a:bodyPr>
            <a:noAutofit/>
          </a:bodyPr>
          <a:lstStyle>
            <a:lvl1pPr algn="l">
              <a:defRPr sz="24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2850" y="3943684"/>
            <a:ext cx="8640000" cy="1386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400">
                <a:solidFill>
                  <a:schemeClr val="accent2"/>
                </a:solidFill>
                <a:latin typeface="+mj-lt"/>
              </a:defRPr>
            </a:lvl2pPr>
            <a:lvl3pPr marL="958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7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6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5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51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4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3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3" name="Straight Connector 12"/>
          <p:cNvCxnSpPr/>
          <p:nvPr userDrawn="1"/>
        </p:nvCxnSpPr>
        <p:spPr bwMode="gray">
          <a:xfrm>
            <a:off x="10423450" y="1094730"/>
            <a:ext cx="792000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 userDrawn="1"/>
        </p:nvSpPr>
        <p:spPr>
          <a:xfrm>
            <a:off x="11182294" y="956231"/>
            <a:ext cx="1980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 indent="0">
              <a:spcBef>
                <a:spcPts val="600"/>
              </a:spcBef>
              <a:spcAft>
                <a:spcPts val="600"/>
              </a:spcAft>
              <a:buClr>
                <a:srgbClr val="A2978A"/>
              </a:buClr>
              <a:buFontTx/>
              <a:buNone/>
              <a:tabLst>
                <a:tab pos="9504000" algn="r"/>
              </a:tabLst>
            </a:pPr>
            <a:r>
              <a:rPr lang="en-GB" sz="1100" dirty="0">
                <a:solidFill>
                  <a:srgbClr val="707372"/>
                </a:solidFill>
              </a:rPr>
              <a:t>Ventures India – purple</a:t>
            </a:r>
          </a:p>
        </p:txBody>
      </p:sp>
      <p:sp>
        <p:nvSpPr>
          <p:cNvPr id="2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01674" y="6938499"/>
            <a:ext cx="4697414" cy="184666"/>
          </a:xfrm>
        </p:spPr>
        <p:txBody>
          <a:bodyPr wrap="square" anchor="b">
            <a:spAutoFit/>
          </a:bodyPr>
          <a:lstStyle>
            <a:lvl1pPr>
              <a:defRPr sz="1200" cap="all" baseline="0">
                <a:solidFill>
                  <a:schemeClr val="tx1"/>
                </a:solidFill>
              </a:defRPr>
            </a:lvl1pPr>
            <a:lvl3pPr marL="0" indent="0">
              <a:buNone/>
              <a:defRPr/>
            </a:lvl3pPr>
            <a:lvl4pPr marL="180000" indent="0">
              <a:buNone/>
              <a:defRPr/>
            </a:lvl4pPr>
            <a:lvl5pPr marL="360000" indent="0">
              <a:buNone/>
              <a:defRPr/>
            </a:lvl5pPr>
          </a:lstStyle>
          <a:p>
            <a:pPr lvl="0"/>
            <a:r>
              <a:rPr lang="en-US"/>
              <a:t>Add Classification Category…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849" y="6930439"/>
            <a:ext cx="235358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4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Ventures Japan - 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 userDrawn="1"/>
        </p:nvGrpSpPr>
        <p:grpSpPr>
          <a:xfrm>
            <a:off x="-12422" y="0"/>
            <a:ext cx="10075585" cy="7539038"/>
            <a:chOff x="-12422" y="0"/>
            <a:chExt cx="10075585" cy="7539038"/>
          </a:xfrm>
        </p:grpSpPr>
        <p:sp>
          <p:nvSpPr>
            <p:cNvPr id="18" name="Rectangle 11"/>
            <p:cNvSpPr>
              <a:spLocks noChangeArrowheads="1"/>
            </p:cNvSpPr>
            <p:nvPr userDrawn="1"/>
          </p:nvSpPr>
          <p:spPr bwMode="auto">
            <a:xfrm>
              <a:off x="0" y="0"/>
              <a:ext cx="10063163" cy="7539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-12422" y="0"/>
              <a:ext cx="4397375" cy="7539038"/>
            </a:xfrm>
            <a:custGeom>
              <a:avLst/>
              <a:gdLst>
                <a:gd name="T0" fmla="*/ 252 w 461"/>
                <a:gd name="T1" fmla="*/ 448 h 790"/>
                <a:gd name="T2" fmla="*/ 422 w 461"/>
                <a:gd name="T3" fmla="*/ 212 h 790"/>
                <a:gd name="T4" fmla="*/ 304 w 461"/>
                <a:gd name="T5" fmla="*/ 0 h 790"/>
                <a:gd name="T6" fmla="*/ 0 w 461"/>
                <a:gd name="T7" fmla="*/ 0 h 790"/>
                <a:gd name="T8" fmla="*/ 0 w 461"/>
                <a:gd name="T9" fmla="*/ 84 h 790"/>
                <a:gd name="T10" fmla="*/ 97 w 461"/>
                <a:gd name="T11" fmla="*/ 50 h 790"/>
                <a:gd name="T12" fmla="*/ 254 w 461"/>
                <a:gd name="T13" fmla="*/ 223 h 790"/>
                <a:gd name="T14" fmla="*/ 149 w 461"/>
                <a:gd name="T15" fmla="*/ 402 h 790"/>
                <a:gd name="T16" fmla="*/ 0 w 461"/>
                <a:gd name="T17" fmla="*/ 315 h 790"/>
                <a:gd name="T18" fmla="*/ 0 w 461"/>
                <a:gd name="T19" fmla="*/ 526 h 790"/>
                <a:gd name="T20" fmla="*/ 17 w 461"/>
                <a:gd name="T21" fmla="*/ 516 h 790"/>
                <a:gd name="T22" fmla="*/ 279 w 461"/>
                <a:gd name="T23" fmla="*/ 749 h 790"/>
                <a:gd name="T24" fmla="*/ 274 w 461"/>
                <a:gd name="T25" fmla="*/ 790 h 790"/>
                <a:gd name="T26" fmla="*/ 449 w 461"/>
                <a:gd name="T27" fmla="*/ 790 h 790"/>
                <a:gd name="T28" fmla="*/ 461 w 461"/>
                <a:gd name="T29" fmla="*/ 704 h 790"/>
                <a:gd name="T30" fmla="*/ 252 w 461"/>
                <a:gd name="T31" fmla="*/ 448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1" h="790">
                  <a:moveTo>
                    <a:pt x="252" y="448"/>
                  </a:moveTo>
                  <a:cubicBezTo>
                    <a:pt x="368" y="397"/>
                    <a:pt x="422" y="311"/>
                    <a:pt x="422" y="212"/>
                  </a:cubicBezTo>
                  <a:cubicBezTo>
                    <a:pt x="422" y="123"/>
                    <a:pt x="379" y="47"/>
                    <a:pt x="3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6" y="62"/>
                    <a:pt x="59" y="50"/>
                    <a:pt x="97" y="50"/>
                  </a:cubicBezTo>
                  <a:cubicBezTo>
                    <a:pt x="189" y="50"/>
                    <a:pt x="254" y="119"/>
                    <a:pt x="254" y="223"/>
                  </a:cubicBezTo>
                  <a:cubicBezTo>
                    <a:pt x="254" y="248"/>
                    <a:pt x="251" y="321"/>
                    <a:pt x="149" y="402"/>
                  </a:cubicBezTo>
                  <a:cubicBezTo>
                    <a:pt x="82" y="373"/>
                    <a:pt x="33" y="347"/>
                    <a:pt x="0" y="315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9" y="521"/>
                    <a:pt x="17" y="516"/>
                    <a:pt x="17" y="516"/>
                  </a:cubicBezTo>
                  <a:cubicBezTo>
                    <a:pt x="191" y="587"/>
                    <a:pt x="279" y="643"/>
                    <a:pt x="279" y="749"/>
                  </a:cubicBezTo>
                  <a:cubicBezTo>
                    <a:pt x="279" y="763"/>
                    <a:pt x="277" y="777"/>
                    <a:pt x="274" y="790"/>
                  </a:cubicBezTo>
                  <a:cubicBezTo>
                    <a:pt x="449" y="790"/>
                    <a:pt x="449" y="790"/>
                    <a:pt x="449" y="790"/>
                  </a:cubicBezTo>
                  <a:cubicBezTo>
                    <a:pt x="457" y="763"/>
                    <a:pt x="461" y="734"/>
                    <a:pt x="461" y="704"/>
                  </a:cubicBezTo>
                  <a:cubicBezTo>
                    <a:pt x="461" y="585"/>
                    <a:pt x="399" y="502"/>
                    <a:pt x="252" y="448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13"/>
            <p:cNvSpPr>
              <a:spLocks noEditPoints="1"/>
            </p:cNvSpPr>
            <p:nvPr userDrawn="1"/>
          </p:nvSpPr>
          <p:spPr bwMode="auto">
            <a:xfrm>
              <a:off x="5399088" y="0"/>
              <a:ext cx="4664075" cy="2795588"/>
            </a:xfrm>
            <a:custGeom>
              <a:avLst/>
              <a:gdLst>
                <a:gd name="T0" fmla="*/ 345 w 489"/>
                <a:gd name="T1" fmla="*/ 0 h 293"/>
                <a:gd name="T2" fmla="*/ 321 w 489"/>
                <a:gd name="T3" fmla="*/ 26 h 293"/>
                <a:gd name="T4" fmla="*/ 321 w 489"/>
                <a:gd name="T5" fmla="*/ 26 h 293"/>
                <a:gd name="T6" fmla="*/ 298 w 489"/>
                <a:gd name="T7" fmla="*/ 0 h 293"/>
                <a:gd name="T8" fmla="*/ 50 w 489"/>
                <a:gd name="T9" fmla="*/ 0 h 293"/>
                <a:gd name="T10" fmla="*/ 3 w 489"/>
                <a:gd name="T11" fmla="*/ 119 h 293"/>
                <a:gd name="T12" fmla="*/ 179 w 489"/>
                <a:gd name="T13" fmla="*/ 292 h 293"/>
                <a:gd name="T14" fmla="*/ 344 w 489"/>
                <a:gd name="T15" fmla="*/ 218 h 293"/>
                <a:gd name="T16" fmla="*/ 344 w 489"/>
                <a:gd name="T17" fmla="*/ 218 h 293"/>
                <a:gd name="T18" fmla="*/ 476 w 489"/>
                <a:gd name="T19" fmla="*/ 291 h 293"/>
                <a:gd name="T20" fmla="*/ 489 w 489"/>
                <a:gd name="T21" fmla="*/ 291 h 293"/>
                <a:gd name="T22" fmla="*/ 489 w 489"/>
                <a:gd name="T23" fmla="*/ 207 h 293"/>
                <a:gd name="T24" fmla="*/ 391 w 489"/>
                <a:gd name="T25" fmla="*/ 136 h 293"/>
                <a:gd name="T26" fmla="*/ 489 w 489"/>
                <a:gd name="T27" fmla="*/ 40 h 293"/>
                <a:gd name="T28" fmla="*/ 489 w 489"/>
                <a:gd name="T29" fmla="*/ 0 h 293"/>
                <a:gd name="T30" fmla="*/ 345 w 489"/>
                <a:gd name="T31" fmla="*/ 0 h 293"/>
                <a:gd name="T32" fmla="*/ 167 w 489"/>
                <a:gd name="T33" fmla="*/ 203 h 293"/>
                <a:gd name="T34" fmla="*/ 84 w 489"/>
                <a:gd name="T35" fmla="*/ 118 h 293"/>
                <a:gd name="T36" fmla="*/ 175 w 489"/>
                <a:gd name="T37" fmla="*/ 35 h 293"/>
                <a:gd name="T38" fmla="*/ 274 w 489"/>
                <a:gd name="T39" fmla="*/ 107 h 293"/>
                <a:gd name="T40" fmla="*/ 167 w 489"/>
                <a:gd name="T41" fmla="*/ 20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9" h="293">
                  <a:moveTo>
                    <a:pt x="345" y="0"/>
                  </a:moveTo>
                  <a:cubicBezTo>
                    <a:pt x="336" y="8"/>
                    <a:pt x="328" y="17"/>
                    <a:pt x="321" y="26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16" y="19"/>
                    <a:pt x="308" y="10"/>
                    <a:pt x="29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1" y="29"/>
                    <a:pt x="4" y="70"/>
                    <a:pt x="3" y="119"/>
                  </a:cubicBezTo>
                  <a:cubicBezTo>
                    <a:pt x="0" y="221"/>
                    <a:pt x="71" y="290"/>
                    <a:pt x="179" y="292"/>
                  </a:cubicBezTo>
                  <a:cubicBezTo>
                    <a:pt x="269" y="293"/>
                    <a:pt x="311" y="255"/>
                    <a:pt x="344" y="218"/>
                  </a:cubicBezTo>
                  <a:cubicBezTo>
                    <a:pt x="344" y="218"/>
                    <a:pt x="344" y="218"/>
                    <a:pt x="344" y="218"/>
                  </a:cubicBezTo>
                  <a:cubicBezTo>
                    <a:pt x="360" y="240"/>
                    <a:pt x="405" y="287"/>
                    <a:pt x="476" y="291"/>
                  </a:cubicBezTo>
                  <a:cubicBezTo>
                    <a:pt x="480" y="291"/>
                    <a:pt x="485" y="291"/>
                    <a:pt x="489" y="291"/>
                  </a:cubicBezTo>
                  <a:cubicBezTo>
                    <a:pt x="489" y="207"/>
                    <a:pt x="489" y="207"/>
                    <a:pt x="489" y="207"/>
                  </a:cubicBezTo>
                  <a:cubicBezTo>
                    <a:pt x="428" y="205"/>
                    <a:pt x="394" y="144"/>
                    <a:pt x="391" y="136"/>
                  </a:cubicBezTo>
                  <a:cubicBezTo>
                    <a:pt x="394" y="126"/>
                    <a:pt x="424" y="47"/>
                    <a:pt x="489" y="40"/>
                  </a:cubicBezTo>
                  <a:cubicBezTo>
                    <a:pt x="489" y="0"/>
                    <a:pt x="489" y="0"/>
                    <a:pt x="489" y="0"/>
                  </a:cubicBezTo>
                  <a:lnTo>
                    <a:pt x="345" y="0"/>
                  </a:lnTo>
                  <a:close/>
                  <a:moveTo>
                    <a:pt x="167" y="203"/>
                  </a:moveTo>
                  <a:cubicBezTo>
                    <a:pt x="105" y="202"/>
                    <a:pt x="83" y="157"/>
                    <a:pt x="84" y="118"/>
                  </a:cubicBezTo>
                  <a:cubicBezTo>
                    <a:pt x="85" y="64"/>
                    <a:pt x="117" y="34"/>
                    <a:pt x="175" y="35"/>
                  </a:cubicBezTo>
                  <a:cubicBezTo>
                    <a:pt x="237" y="36"/>
                    <a:pt x="271" y="98"/>
                    <a:pt x="274" y="107"/>
                  </a:cubicBezTo>
                  <a:cubicBezTo>
                    <a:pt x="272" y="118"/>
                    <a:pt x="239" y="204"/>
                    <a:pt x="167" y="20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850" y="2189245"/>
            <a:ext cx="8640000" cy="1384995"/>
          </a:xfrm>
        </p:spPr>
        <p:txBody>
          <a:bodyPr>
            <a:noAutofit/>
          </a:bodyPr>
          <a:lstStyle>
            <a:lvl1pPr algn="l">
              <a:defRPr sz="24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2850" y="3943684"/>
            <a:ext cx="8640000" cy="1386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400">
                <a:solidFill>
                  <a:schemeClr val="accent2"/>
                </a:solidFill>
                <a:latin typeface="+mj-lt"/>
              </a:defRPr>
            </a:lvl2pPr>
            <a:lvl3pPr marL="958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7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6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5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51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4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3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4" name="Straight Connector 13"/>
          <p:cNvCxnSpPr/>
          <p:nvPr userDrawn="1"/>
        </p:nvCxnSpPr>
        <p:spPr bwMode="gray">
          <a:xfrm>
            <a:off x="10423450" y="1097796"/>
            <a:ext cx="792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 userDrawn="1"/>
        </p:nvSpPr>
        <p:spPr>
          <a:xfrm>
            <a:off x="11182294" y="956231"/>
            <a:ext cx="1980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 indent="0">
              <a:spcBef>
                <a:spcPts val="600"/>
              </a:spcBef>
              <a:spcAft>
                <a:spcPts val="600"/>
              </a:spcAft>
              <a:buClr>
                <a:srgbClr val="A2978A"/>
              </a:buClr>
              <a:buFontTx/>
              <a:buNone/>
              <a:tabLst>
                <a:tab pos="9504000" algn="r"/>
              </a:tabLst>
            </a:pPr>
            <a:r>
              <a:rPr lang="en-GB" sz="1100" dirty="0">
                <a:solidFill>
                  <a:srgbClr val="707372"/>
                </a:solidFill>
              </a:rPr>
              <a:t>Ventures Japan – blue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01674" y="6938499"/>
            <a:ext cx="4697414" cy="184666"/>
          </a:xfrm>
        </p:spPr>
        <p:txBody>
          <a:bodyPr wrap="square" anchor="b">
            <a:spAutoFit/>
          </a:bodyPr>
          <a:lstStyle>
            <a:lvl1pPr>
              <a:defRPr sz="1200" cap="all" baseline="0">
                <a:solidFill>
                  <a:schemeClr val="tx1"/>
                </a:solidFill>
              </a:defRPr>
            </a:lvl1pPr>
            <a:lvl3pPr marL="0" indent="0">
              <a:buNone/>
              <a:defRPr/>
            </a:lvl3pPr>
            <a:lvl4pPr marL="180000" indent="0">
              <a:buNone/>
              <a:defRPr/>
            </a:lvl4pPr>
            <a:lvl5pPr marL="360000" indent="0">
              <a:buNone/>
              <a:defRPr/>
            </a:lvl5pPr>
          </a:lstStyle>
          <a:p>
            <a:pPr lvl="0"/>
            <a:r>
              <a:rPr lang="en-US"/>
              <a:t>Add Classification Category… 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849" y="6930439"/>
            <a:ext cx="235358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03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Ventures Europ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 userDrawn="1"/>
        </p:nvGrpSpPr>
        <p:grpSpPr>
          <a:xfrm>
            <a:off x="-12422" y="0"/>
            <a:ext cx="10075585" cy="7539038"/>
            <a:chOff x="-12422" y="0"/>
            <a:chExt cx="10075585" cy="7539038"/>
          </a:xfrm>
        </p:grpSpPr>
        <p:sp>
          <p:nvSpPr>
            <p:cNvPr id="18" name="Rectangle 11"/>
            <p:cNvSpPr>
              <a:spLocks noChangeArrowheads="1"/>
            </p:cNvSpPr>
            <p:nvPr userDrawn="1"/>
          </p:nvSpPr>
          <p:spPr bwMode="auto">
            <a:xfrm>
              <a:off x="0" y="0"/>
              <a:ext cx="10063163" cy="7539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-12422" y="0"/>
              <a:ext cx="4397375" cy="7539038"/>
            </a:xfrm>
            <a:custGeom>
              <a:avLst/>
              <a:gdLst>
                <a:gd name="T0" fmla="*/ 252 w 461"/>
                <a:gd name="T1" fmla="*/ 448 h 790"/>
                <a:gd name="T2" fmla="*/ 422 w 461"/>
                <a:gd name="T3" fmla="*/ 212 h 790"/>
                <a:gd name="T4" fmla="*/ 304 w 461"/>
                <a:gd name="T5" fmla="*/ 0 h 790"/>
                <a:gd name="T6" fmla="*/ 0 w 461"/>
                <a:gd name="T7" fmla="*/ 0 h 790"/>
                <a:gd name="T8" fmla="*/ 0 w 461"/>
                <a:gd name="T9" fmla="*/ 84 h 790"/>
                <a:gd name="T10" fmla="*/ 97 w 461"/>
                <a:gd name="T11" fmla="*/ 50 h 790"/>
                <a:gd name="T12" fmla="*/ 254 w 461"/>
                <a:gd name="T13" fmla="*/ 223 h 790"/>
                <a:gd name="T14" fmla="*/ 149 w 461"/>
                <a:gd name="T15" fmla="*/ 402 h 790"/>
                <a:gd name="T16" fmla="*/ 0 w 461"/>
                <a:gd name="T17" fmla="*/ 315 h 790"/>
                <a:gd name="T18" fmla="*/ 0 w 461"/>
                <a:gd name="T19" fmla="*/ 526 h 790"/>
                <a:gd name="T20" fmla="*/ 17 w 461"/>
                <a:gd name="T21" fmla="*/ 516 h 790"/>
                <a:gd name="T22" fmla="*/ 279 w 461"/>
                <a:gd name="T23" fmla="*/ 749 h 790"/>
                <a:gd name="T24" fmla="*/ 274 w 461"/>
                <a:gd name="T25" fmla="*/ 790 h 790"/>
                <a:gd name="T26" fmla="*/ 449 w 461"/>
                <a:gd name="T27" fmla="*/ 790 h 790"/>
                <a:gd name="T28" fmla="*/ 461 w 461"/>
                <a:gd name="T29" fmla="*/ 704 h 790"/>
                <a:gd name="T30" fmla="*/ 252 w 461"/>
                <a:gd name="T31" fmla="*/ 448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1" h="790">
                  <a:moveTo>
                    <a:pt x="252" y="448"/>
                  </a:moveTo>
                  <a:cubicBezTo>
                    <a:pt x="368" y="397"/>
                    <a:pt x="422" y="311"/>
                    <a:pt x="422" y="212"/>
                  </a:cubicBezTo>
                  <a:cubicBezTo>
                    <a:pt x="422" y="123"/>
                    <a:pt x="379" y="47"/>
                    <a:pt x="3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6" y="62"/>
                    <a:pt x="59" y="50"/>
                    <a:pt x="97" y="50"/>
                  </a:cubicBezTo>
                  <a:cubicBezTo>
                    <a:pt x="189" y="50"/>
                    <a:pt x="254" y="119"/>
                    <a:pt x="254" y="223"/>
                  </a:cubicBezTo>
                  <a:cubicBezTo>
                    <a:pt x="254" y="248"/>
                    <a:pt x="251" y="321"/>
                    <a:pt x="149" y="402"/>
                  </a:cubicBezTo>
                  <a:cubicBezTo>
                    <a:pt x="82" y="373"/>
                    <a:pt x="33" y="347"/>
                    <a:pt x="0" y="315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9" y="521"/>
                    <a:pt x="17" y="516"/>
                    <a:pt x="17" y="516"/>
                  </a:cubicBezTo>
                  <a:cubicBezTo>
                    <a:pt x="191" y="587"/>
                    <a:pt x="279" y="643"/>
                    <a:pt x="279" y="749"/>
                  </a:cubicBezTo>
                  <a:cubicBezTo>
                    <a:pt x="279" y="763"/>
                    <a:pt x="277" y="777"/>
                    <a:pt x="274" y="790"/>
                  </a:cubicBezTo>
                  <a:cubicBezTo>
                    <a:pt x="449" y="790"/>
                    <a:pt x="449" y="790"/>
                    <a:pt x="449" y="790"/>
                  </a:cubicBezTo>
                  <a:cubicBezTo>
                    <a:pt x="457" y="763"/>
                    <a:pt x="461" y="734"/>
                    <a:pt x="461" y="704"/>
                  </a:cubicBezTo>
                  <a:cubicBezTo>
                    <a:pt x="461" y="585"/>
                    <a:pt x="399" y="502"/>
                    <a:pt x="252" y="448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0" name="Freeform 13"/>
            <p:cNvSpPr>
              <a:spLocks noEditPoints="1"/>
            </p:cNvSpPr>
            <p:nvPr userDrawn="1"/>
          </p:nvSpPr>
          <p:spPr bwMode="auto">
            <a:xfrm>
              <a:off x="5399088" y="0"/>
              <a:ext cx="4664075" cy="2795588"/>
            </a:xfrm>
            <a:custGeom>
              <a:avLst/>
              <a:gdLst>
                <a:gd name="T0" fmla="*/ 345 w 489"/>
                <a:gd name="T1" fmla="*/ 0 h 293"/>
                <a:gd name="T2" fmla="*/ 321 w 489"/>
                <a:gd name="T3" fmla="*/ 26 h 293"/>
                <a:gd name="T4" fmla="*/ 321 w 489"/>
                <a:gd name="T5" fmla="*/ 26 h 293"/>
                <a:gd name="T6" fmla="*/ 298 w 489"/>
                <a:gd name="T7" fmla="*/ 0 h 293"/>
                <a:gd name="T8" fmla="*/ 50 w 489"/>
                <a:gd name="T9" fmla="*/ 0 h 293"/>
                <a:gd name="T10" fmla="*/ 3 w 489"/>
                <a:gd name="T11" fmla="*/ 119 h 293"/>
                <a:gd name="T12" fmla="*/ 179 w 489"/>
                <a:gd name="T13" fmla="*/ 292 h 293"/>
                <a:gd name="T14" fmla="*/ 344 w 489"/>
                <a:gd name="T15" fmla="*/ 218 h 293"/>
                <a:gd name="T16" fmla="*/ 344 w 489"/>
                <a:gd name="T17" fmla="*/ 218 h 293"/>
                <a:gd name="T18" fmla="*/ 476 w 489"/>
                <a:gd name="T19" fmla="*/ 291 h 293"/>
                <a:gd name="T20" fmla="*/ 489 w 489"/>
                <a:gd name="T21" fmla="*/ 291 h 293"/>
                <a:gd name="T22" fmla="*/ 489 w 489"/>
                <a:gd name="T23" fmla="*/ 207 h 293"/>
                <a:gd name="T24" fmla="*/ 391 w 489"/>
                <a:gd name="T25" fmla="*/ 136 h 293"/>
                <a:gd name="T26" fmla="*/ 489 w 489"/>
                <a:gd name="T27" fmla="*/ 40 h 293"/>
                <a:gd name="T28" fmla="*/ 489 w 489"/>
                <a:gd name="T29" fmla="*/ 0 h 293"/>
                <a:gd name="T30" fmla="*/ 345 w 489"/>
                <a:gd name="T31" fmla="*/ 0 h 293"/>
                <a:gd name="T32" fmla="*/ 167 w 489"/>
                <a:gd name="T33" fmla="*/ 203 h 293"/>
                <a:gd name="T34" fmla="*/ 84 w 489"/>
                <a:gd name="T35" fmla="*/ 118 h 293"/>
                <a:gd name="T36" fmla="*/ 175 w 489"/>
                <a:gd name="T37" fmla="*/ 35 h 293"/>
                <a:gd name="T38" fmla="*/ 274 w 489"/>
                <a:gd name="T39" fmla="*/ 107 h 293"/>
                <a:gd name="T40" fmla="*/ 167 w 489"/>
                <a:gd name="T41" fmla="*/ 20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9" h="293">
                  <a:moveTo>
                    <a:pt x="345" y="0"/>
                  </a:moveTo>
                  <a:cubicBezTo>
                    <a:pt x="336" y="8"/>
                    <a:pt x="328" y="17"/>
                    <a:pt x="321" y="26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16" y="19"/>
                    <a:pt x="308" y="10"/>
                    <a:pt x="29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1" y="29"/>
                    <a:pt x="4" y="70"/>
                    <a:pt x="3" y="119"/>
                  </a:cubicBezTo>
                  <a:cubicBezTo>
                    <a:pt x="0" y="221"/>
                    <a:pt x="71" y="290"/>
                    <a:pt x="179" y="292"/>
                  </a:cubicBezTo>
                  <a:cubicBezTo>
                    <a:pt x="269" y="293"/>
                    <a:pt x="311" y="255"/>
                    <a:pt x="344" y="218"/>
                  </a:cubicBezTo>
                  <a:cubicBezTo>
                    <a:pt x="344" y="218"/>
                    <a:pt x="344" y="218"/>
                    <a:pt x="344" y="218"/>
                  </a:cubicBezTo>
                  <a:cubicBezTo>
                    <a:pt x="360" y="240"/>
                    <a:pt x="405" y="287"/>
                    <a:pt x="476" y="291"/>
                  </a:cubicBezTo>
                  <a:cubicBezTo>
                    <a:pt x="480" y="291"/>
                    <a:pt x="485" y="291"/>
                    <a:pt x="489" y="291"/>
                  </a:cubicBezTo>
                  <a:cubicBezTo>
                    <a:pt x="489" y="207"/>
                    <a:pt x="489" y="207"/>
                    <a:pt x="489" y="207"/>
                  </a:cubicBezTo>
                  <a:cubicBezTo>
                    <a:pt x="428" y="205"/>
                    <a:pt x="394" y="144"/>
                    <a:pt x="391" y="136"/>
                  </a:cubicBezTo>
                  <a:cubicBezTo>
                    <a:pt x="394" y="126"/>
                    <a:pt x="424" y="47"/>
                    <a:pt x="489" y="40"/>
                  </a:cubicBezTo>
                  <a:cubicBezTo>
                    <a:pt x="489" y="0"/>
                    <a:pt x="489" y="0"/>
                    <a:pt x="489" y="0"/>
                  </a:cubicBezTo>
                  <a:lnTo>
                    <a:pt x="345" y="0"/>
                  </a:lnTo>
                  <a:close/>
                  <a:moveTo>
                    <a:pt x="167" y="203"/>
                  </a:moveTo>
                  <a:cubicBezTo>
                    <a:pt x="105" y="202"/>
                    <a:pt x="83" y="157"/>
                    <a:pt x="84" y="118"/>
                  </a:cubicBezTo>
                  <a:cubicBezTo>
                    <a:pt x="85" y="64"/>
                    <a:pt x="117" y="34"/>
                    <a:pt x="175" y="35"/>
                  </a:cubicBezTo>
                  <a:cubicBezTo>
                    <a:pt x="237" y="36"/>
                    <a:pt x="271" y="98"/>
                    <a:pt x="274" y="107"/>
                  </a:cubicBezTo>
                  <a:cubicBezTo>
                    <a:pt x="272" y="118"/>
                    <a:pt x="239" y="204"/>
                    <a:pt x="167" y="203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850" y="2189245"/>
            <a:ext cx="8640000" cy="1384995"/>
          </a:xfrm>
        </p:spPr>
        <p:txBody>
          <a:bodyPr>
            <a:noAutofit/>
          </a:bodyPr>
          <a:lstStyle>
            <a:lvl1pPr algn="l">
              <a:defRPr sz="24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2850" y="3943684"/>
            <a:ext cx="8640000" cy="1386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400">
                <a:solidFill>
                  <a:schemeClr val="accent2"/>
                </a:solidFill>
                <a:latin typeface="+mj-lt"/>
              </a:defRPr>
            </a:lvl2pPr>
            <a:lvl3pPr marL="958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7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6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5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51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4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3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5" name="Straight Connector 14"/>
          <p:cNvCxnSpPr/>
          <p:nvPr userDrawn="1"/>
        </p:nvCxnSpPr>
        <p:spPr bwMode="gray">
          <a:xfrm>
            <a:off x="10423450" y="1094730"/>
            <a:ext cx="792000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 userDrawn="1"/>
        </p:nvSpPr>
        <p:spPr>
          <a:xfrm>
            <a:off x="11182294" y="956231"/>
            <a:ext cx="1980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2" indent="0" algn="l" defTabSz="958383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rgbClr val="707372"/>
                </a:solidFill>
              </a:rPr>
              <a:t>Ventures Europe – teal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01674" y="6938499"/>
            <a:ext cx="4697414" cy="184666"/>
          </a:xfrm>
        </p:spPr>
        <p:txBody>
          <a:bodyPr wrap="square" anchor="b">
            <a:spAutoFit/>
          </a:bodyPr>
          <a:lstStyle>
            <a:lvl1pPr>
              <a:defRPr sz="1200" cap="all" baseline="0">
                <a:solidFill>
                  <a:schemeClr val="tx1"/>
                </a:solidFill>
              </a:defRPr>
            </a:lvl1pPr>
            <a:lvl3pPr marL="0" indent="0">
              <a:buNone/>
              <a:defRPr/>
            </a:lvl3pPr>
            <a:lvl4pPr marL="180000" indent="0">
              <a:buNone/>
              <a:defRPr/>
            </a:lvl4pPr>
            <a:lvl5pPr marL="360000" indent="0">
              <a:buNone/>
              <a:defRPr/>
            </a:lvl5pPr>
          </a:lstStyle>
          <a:p>
            <a:pPr lvl="0"/>
            <a:r>
              <a:rPr lang="en-US"/>
              <a:t>Add Classification Category…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849" y="6930439"/>
            <a:ext cx="235358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41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Real Estate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 userDrawn="1"/>
        </p:nvGrpSpPr>
        <p:grpSpPr>
          <a:xfrm>
            <a:off x="-12422" y="0"/>
            <a:ext cx="10075585" cy="7539038"/>
            <a:chOff x="-12422" y="0"/>
            <a:chExt cx="10075585" cy="7539038"/>
          </a:xfrm>
        </p:grpSpPr>
        <p:sp>
          <p:nvSpPr>
            <p:cNvPr id="18" name="Rectangle 11"/>
            <p:cNvSpPr>
              <a:spLocks noChangeArrowheads="1"/>
            </p:cNvSpPr>
            <p:nvPr userDrawn="1"/>
          </p:nvSpPr>
          <p:spPr bwMode="auto">
            <a:xfrm>
              <a:off x="0" y="0"/>
              <a:ext cx="10063163" cy="7539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-12422" y="0"/>
              <a:ext cx="4397375" cy="7539038"/>
            </a:xfrm>
            <a:custGeom>
              <a:avLst/>
              <a:gdLst>
                <a:gd name="T0" fmla="*/ 252 w 461"/>
                <a:gd name="T1" fmla="*/ 448 h 790"/>
                <a:gd name="T2" fmla="*/ 422 w 461"/>
                <a:gd name="T3" fmla="*/ 212 h 790"/>
                <a:gd name="T4" fmla="*/ 304 w 461"/>
                <a:gd name="T5" fmla="*/ 0 h 790"/>
                <a:gd name="T6" fmla="*/ 0 w 461"/>
                <a:gd name="T7" fmla="*/ 0 h 790"/>
                <a:gd name="T8" fmla="*/ 0 w 461"/>
                <a:gd name="T9" fmla="*/ 84 h 790"/>
                <a:gd name="T10" fmla="*/ 97 w 461"/>
                <a:gd name="T11" fmla="*/ 50 h 790"/>
                <a:gd name="T12" fmla="*/ 254 w 461"/>
                <a:gd name="T13" fmla="*/ 223 h 790"/>
                <a:gd name="T14" fmla="*/ 149 w 461"/>
                <a:gd name="T15" fmla="*/ 402 h 790"/>
                <a:gd name="T16" fmla="*/ 0 w 461"/>
                <a:gd name="T17" fmla="*/ 315 h 790"/>
                <a:gd name="T18" fmla="*/ 0 w 461"/>
                <a:gd name="T19" fmla="*/ 526 h 790"/>
                <a:gd name="T20" fmla="*/ 17 w 461"/>
                <a:gd name="T21" fmla="*/ 516 h 790"/>
                <a:gd name="T22" fmla="*/ 279 w 461"/>
                <a:gd name="T23" fmla="*/ 749 h 790"/>
                <a:gd name="T24" fmla="*/ 274 w 461"/>
                <a:gd name="T25" fmla="*/ 790 h 790"/>
                <a:gd name="T26" fmla="*/ 449 w 461"/>
                <a:gd name="T27" fmla="*/ 790 h 790"/>
                <a:gd name="T28" fmla="*/ 461 w 461"/>
                <a:gd name="T29" fmla="*/ 704 h 790"/>
                <a:gd name="T30" fmla="*/ 252 w 461"/>
                <a:gd name="T31" fmla="*/ 448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1" h="790">
                  <a:moveTo>
                    <a:pt x="252" y="448"/>
                  </a:moveTo>
                  <a:cubicBezTo>
                    <a:pt x="368" y="397"/>
                    <a:pt x="422" y="311"/>
                    <a:pt x="422" y="212"/>
                  </a:cubicBezTo>
                  <a:cubicBezTo>
                    <a:pt x="422" y="123"/>
                    <a:pt x="379" y="47"/>
                    <a:pt x="30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26" y="62"/>
                    <a:pt x="59" y="50"/>
                    <a:pt x="97" y="50"/>
                  </a:cubicBezTo>
                  <a:cubicBezTo>
                    <a:pt x="189" y="50"/>
                    <a:pt x="254" y="119"/>
                    <a:pt x="254" y="223"/>
                  </a:cubicBezTo>
                  <a:cubicBezTo>
                    <a:pt x="254" y="248"/>
                    <a:pt x="251" y="321"/>
                    <a:pt x="149" y="402"/>
                  </a:cubicBezTo>
                  <a:cubicBezTo>
                    <a:pt x="82" y="373"/>
                    <a:pt x="33" y="347"/>
                    <a:pt x="0" y="315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9" y="521"/>
                    <a:pt x="17" y="516"/>
                    <a:pt x="17" y="516"/>
                  </a:cubicBezTo>
                  <a:cubicBezTo>
                    <a:pt x="191" y="587"/>
                    <a:pt x="279" y="643"/>
                    <a:pt x="279" y="749"/>
                  </a:cubicBezTo>
                  <a:cubicBezTo>
                    <a:pt x="279" y="763"/>
                    <a:pt x="277" y="777"/>
                    <a:pt x="274" y="790"/>
                  </a:cubicBezTo>
                  <a:cubicBezTo>
                    <a:pt x="449" y="790"/>
                    <a:pt x="449" y="790"/>
                    <a:pt x="449" y="790"/>
                  </a:cubicBezTo>
                  <a:cubicBezTo>
                    <a:pt x="457" y="763"/>
                    <a:pt x="461" y="734"/>
                    <a:pt x="461" y="704"/>
                  </a:cubicBezTo>
                  <a:cubicBezTo>
                    <a:pt x="461" y="585"/>
                    <a:pt x="399" y="502"/>
                    <a:pt x="252" y="448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  <p:sp>
          <p:nvSpPr>
            <p:cNvPr id="20" name="Freeform 13"/>
            <p:cNvSpPr>
              <a:spLocks noEditPoints="1"/>
            </p:cNvSpPr>
            <p:nvPr userDrawn="1"/>
          </p:nvSpPr>
          <p:spPr bwMode="auto">
            <a:xfrm>
              <a:off x="5399088" y="0"/>
              <a:ext cx="4664075" cy="2795588"/>
            </a:xfrm>
            <a:custGeom>
              <a:avLst/>
              <a:gdLst>
                <a:gd name="T0" fmla="*/ 345 w 489"/>
                <a:gd name="T1" fmla="*/ 0 h 293"/>
                <a:gd name="T2" fmla="*/ 321 w 489"/>
                <a:gd name="T3" fmla="*/ 26 h 293"/>
                <a:gd name="T4" fmla="*/ 321 w 489"/>
                <a:gd name="T5" fmla="*/ 26 h 293"/>
                <a:gd name="T6" fmla="*/ 298 w 489"/>
                <a:gd name="T7" fmla="*/ 0 h 293"/>
                <a:gd name="T8" fmla="*/ 50 w 489"/>
                <a:gd name="T9" fmla="*/ 0 h 293"/>
                <a:gd name="T10" fmla="*/ 3 w 489"/>
                <a:gd name="T11" fmla="*/ 119 h 293"/>
                <a:gd name="T12" fmla="*/ 179 w 489"/>
                <a:gd name="T13" fmla="*/ 292 h 293"/>
                <a:gd name="T14" fmla="*/ 344 w 489"/>
                <a:gd name="T15" fmla="*/ 218 h 293"/>
                <a:gd name="T16" fmla="*/ 344 w 489"/>
                <a:gd name="T17" fmla="*/ 218 h 293"/>
                <a:gd name="T18" fmla="*/ 476 w 489"/>
                <a:gd name="T19" fmla="*/ 291 h 293"/>
                <a:gd name="T20" fmla="*/ 489 w 489"/>
                <a:gd name="T21" fmla="*/ 291 h 293"/>
                <a:gd name="T22" fmla="*/ 489 w 489"/>
                <a:gd name="T23" fmla="*/ 207 h 293"/>
                <a:gd name="T24" fmla="*/ 391 w 489"/>
                <a:gd name="T25" fmla="*/ 136 h 293"/>
                <a:gd name="T26" fmla="*/ 489 w 489"/>
                <a:gd name="T27" fmla="*/ 40 h 293"/>
                <a:gd name="T28" fmla="*/ 489 w 489"/>
                <a:gd name="T29" fmla="*/ 0 h 293"/>
                <a:gd name="T30" fmla="*/ 345 w 489"/>
                <a:gd name="T31" fmla="*/ 0 h 293"/>
                <a:gd name="T32" fmla="*/ 167 w 489"/>
                <a:gd name="T33" fmla="*/ 203 h 293"/>
                <a:gd name="T34" fmla="*/ 84 w 489"/>
                <a:gd name="T35" fmla="*/ 118 h 293"/>
                <a:gd name="T36" fmla="*/ 175 w 489"/>
                <a:gd name="T37" fmla="*/ 35 h 293"/>
                <a:gd name="T38" fmla="*/ 274 w 489"/>
                <a:gd name="T39" fmla="*/ 107 h 293"/>
                <a:gd name="T40" fmla="*/ 167 w 489"/>
                <a:gd name="T41" fmla="*/ 20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89" h="293">
                  <a:moveTo>
                    <a:pt x="345" y="0"/>
                  </a:moveTo>
                  <a:cubicBezTo>
                    <a:pt x="336" y="8"/>
                    <a:pt x="328" y="17"/>
                    <a:pt x="321" y="26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16" y="19"/>
                    <a:pt x="308" y="10"/>
                    <a:pt x="29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1" y="29"/>
                    <a:pt x="4" y="70"/>
                    <a:pt x="3" y="119"/>
                  </a:cubicBezTo>
                  <a:cubicBezTo>
                    <a:pt x="0" y="221"/>
                    <a:pt x="71" y="290"/>
                    <a:pt x="179" y="292"/>
                  </a:cubicBezTo>
                  <a:cubicBezTo>
                    <a:pt x="269" y="293"/>
                    <a:pt x="311" y="255"/>
                    <a:pt x="344" y="218"/>
                  </a:cubicBezTo>
                  <a:cubicBezTo>
                    <a:pt x="344" y="218"/>
                    <a:pt x="344" y="218"/>
                    <a:pt x="344" y="218"/>
                  </a:cubicBezTo>
                  <a:cubicBezTo>
                    <a:pt x="360" y="240"/>
                    <a:pt x="405" y="287"/>
                    <a:pt x="476" y="291"/>
                  </a:cubicBezTo>
                  <a:cubicBezTo>
                    <a:pt x="480" y="291"/>
                    <a:pt x="485" y="291"/>
                    <a:pt x="489" y="291"/>
                  </a:cubicBezTo>
                  <a:cubicBezTo>
                    <a:pt x="489" y="207"/>
                    <a:pt x="489" y="207"/>
                    <a:pt x="489" y="207"/>
                  </a:cubicBezTo>
                  <a:cubicBezTo>
                    <a:pt x="428" y="205"/>
                    <a:pt x="394" y="144"/>
                    <a:pt x="391" y="136"/>
                  </a:cubicBezTo>
                  <a:cubicBezTo>
                    <a:pt x="394" y="126"/>
                    <a:pt x="424" y="47"/>
                    <a:pt x="489" y="40"/>
                  </a:cubicBezTo>
                  <a:cubicBezTo>
                    <a:pt x="489" y="0"/>
                    <a:pt x="489" y="0"/>
                    <a:pt x="489" y="0"/>
                  </a:cubicBezTo>
                  <a:lnTo>
                    <a:pt x="345" y="0"/>
                  </a:lnTo>
                  <a:close/>
                  <a:moveTo>
                    <a:pt x="167" y="203"/>
                  </a:moveTo>
                  <a:cubicBezTo>
                    <a:pt x="105" y="202"/>
                    <a:pt x="83" y="157"/>
                    <a:pt x="84" y="118"/>
                  </a:cubicBezTo>
                  <a:cubicBezTo>
                    <a:pt x="85" y="64"/>
                    <a:pt x="117" y="34"/>
                    <a:pt x="175" y="35"/>
                  </a:cubicBezTo>
                  <a:cubicBezTo>
                    <a:pt x="237" y="36"/>
                    <a:pt x="271" y="98"/>
                    <a:pt x="274" y="107"/>
                  </a:cubicBezTo>
                  <a:cubicBezTo>
                    <a:pt x="272" y="118"/>
                    <a:pt x="239" y="204"/>
                    <a:pt x="167" y="203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850" y="2189245"/>
            <a:ext cx="8640000" cy="1384995"/>
          </a:xfrm>
        </p:spPr>
        <p:txBody>
          <a:bodyPr>
            <a:noAutofit/>
          </a:bodyPr>
          <a:lstStyle>
            <a:lvl1pPr algn="l">
              <a:defRPr sz="24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2850" y="3943684"/>
            <a:ext cx="8640000" cy="13860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400">
                <a:solidFill>
                  <a:schemeClr val="accent2"/>
                </a:solidFill>
                <a:latin typeface="+mj-lt"/>
              </a:defRPr>
            </a:lvl2pPr>
            <a:lvl3pPr marL="958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7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6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5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51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4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3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cxnSp>
        <p:nvCxnSpPr>
          <p:cNvPr id="17" name="Straight Connector 16"/>
          <p:cNvCxnSpPr/>
          <p:nvPr userDrawn="1"/>
        </p:nvCxnSpPr>
        <p:spPr bwMode="gray">
          <a:xfrm>
            <a:off x="10423450" y="1094730"/>
            <a:ext cx="792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 userDrawn="1"/>
        </p:nvSpPr>
        <p:spPr>
          <a:xfrm>
            <a:off x="11182294" y="956231"/>
            <a:ext cx="23375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indent="0">
              <a:spcBef>
                <a:spcPts val="600"/>
              </a:spcBef>
              <a:spcAft>
                <a:spcPts val="600"/>
              </a:spcAft>
              <a:buClr>
                <a:srgbClr val="A2978A"/>
              </a:buClr>
              <a:buFontTx/>
              <a:buNone/>
              <a:tabLst>
                <a:tab pos="9504000" algn="r"/>
              </a:tabLst>
            </a:pPr>
            <a:r>
              <a:rPr lang="en-GB" sz="1100" dirty="0">
                <a:solidFill>
                  <a:srgbClr val="707372"/>
                </a:solidFill>
              </a:rPr>
              <a:t>Real Estate –</a:t>
            </a:r>
            <a:r>
              <a:rPr lang="en-GB" sz="1100" baseline="0" dirty="0">
                <a:solidFill>
                  <a:srgbClr val="707372"/>
                </a:solidFill>
              </a:rPr>
              <a:t> brown (6</a:t>
            </a:r>
            <a:r>
              <a:rPr lang="en-GB" sz="1100" baseline="30000" dirty="0">
                <a:solidFill>
                  <a:srgbClr val="707372"/>
                </a:solidFill>
              </a:rPr>
              <a:t>th</a:t>
            </a:r>
            <a:r>
              <a:rPr lang="en-GB" sz="1100" baseline="0" dirty="0">
                <a:solidFill>
                  <a:srgbClr val="707372"/>
                </a:solidFill>
              </a:rPr>
              <a:t> colour</a:t>
            </a:r>
            <a:r>
              <a:rPr lang="en-GB" sz="1100" dirty="0">
                <a:solidFill>
                  <a:srgbClr val="707372"/>
                </a:solidFill>
              </a:rPr>
              <a:t>)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01674" y="6938499"/>
            <a:ext cx="4697414" cy="184666"/>
          </a:xfrm>
        </p:spPr>
        <p:txBody>
          <a:bodyPr wrap="square" anchor="b">
            <a:spAutoFit/>
          </a:bodyPr>
          <a:lstStyle>
            <a:lvl1pPr>
              <a:defRPr sz="1200" cap="all" baseline="0">
                <a:solidFill>
                  <a:schemeClr val="tx1"/>
                </a:solidFill>
              </a:defRPr>
            </a:lvl1pPr>
            <a:lvl3pPr marL="0" indent="0">
              <a:buNone/>
              <a:defRPr/>
            </a:lvl3pPr>
            <a:lvl4pPr marL="180000" indent="0">
              <a:buNone/>
              <a:defRPr/>
            </a:lvl4pPr>
            <a:lvl5pPr marL="360000" indent="0">
              <a:buNone/>
              <a:defRPr/>
            </a:lvl5pPr>
          </a:lstStyle>
          <a:p>
            <a:pPr lvl="0"/>
            <a:r>
              <a:rPr lang="en-US"/>
              <a:t>Add Classification Category… 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2849" y="6930439"/>
            <a:ext cx="2353588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6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0509355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216" imgH="216" progId="TCLayout.ActiveDocument.1">
                  <p:embed/>
                </p:oleObj>
              </mc:Choice>
              <mc:Fallback>
                <p:oleObj name="think-cell Slide" r:id="rId16" imgW="216" imgH="21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70850" y="360000"/>
            <a:ext cx="9504000" cy="594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70850" y="1242000"/>
            <a:ext cx="9504000" cy="5689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6" name="TextBox 35"/>
          <p:cNvSpPr txBox="1"/>
          <p:nvPr/>
        </p:nvSpPr>
        <p:spPr bwMode="gray">
          <a:xfrm>
            <a:off x="270850" y="7337042"/>
            <a:ext cx="94881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583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1" dirty="0">
                <a:solidFill>
                  <a:schemeClr val="tx1"/>
                </a:solidFill>
              </a:rPr>
              <a:t>PAGE</a:t>
            </a:r>
            <a:r>
              <a:rPr lang="en-GB" sz="600" b="1" baseline="0" dirty="0">
                <a:solidFill>
                  <a:schemeClr val="tx1"/>
                </a:solidFill>
              </a:rPr>
              <a:t> </a:t>
            </a:r>
            <a:fld id="{73D266FA-6C1B-4F94-89A2-4670EA1E26B1}" type="slidenum">
              <a:rPr lang="en-GB" sz="600" b="1" smtClean="0">
                <a:solidFill>
                  <a:schemeClr val="tx1"/>
                </a:solidFill>
              </a:rPr>
              <a:pPr marL="0" marR="0" indent="0" algn="l" defTabSz="9583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600" b="1" dirty="0"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698"/>
          <a:stretch/>
        </p:blipFill>
        <p:spPr>
          <a:xfrm>
            <a:off x="8199672" y="7303375"/>
            <a:ext cx="1575178" cy="126000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 bwMode="gray">
          <a:xfrm>
            <a:off x="270850" y="1098000"/>
            <a:ext cx="8665375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8982849" y="1098000"/>
            <a:ext cx="792000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79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5" r:id="rId2"/>
    <p:sldLayoutId id="2147483650" r:id="rId3"/>
    <p:sldLayoutId id="2147483654" r:id="rId4"/>
    <p:sldLayoutId id="2147483652" r:id="rId5"/>
    <p:sldLayoutId id="2147483662" r:id="rId6"/>
    <p:sldLayoutId id="2147483657" r:id="rId7"/>
    <p:sldLayoutId id="2147483693" r:id="rId8"/>
    <p:sldLayoutId id="2147483686" r:id="rId9"/>
    <p:sldLayoutId id="2147483691" r:id="rId10"/>
    <p:sldLayoutId id="2147483690" r:id="rId11"/>
    <p:sldLayoutId id="2147483692" r:id="rId12"/>
    <p:sldLayoutId id="2147483688" r:id="rId13"/>
  </p:sldLayoutIdLst>
  <p:hf sldNum="0" hdr="0" dt="0"/>
  <p:txStyles>
    <p:titleStyle>
      <a:lvl1pPr algn="l" defTabSz="958383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 sz="1400">
          <a:solidFill>
            <a:schemeClr val="tx2"/>
          </a:solidFill>
          <a:latin typeface="+mj-lt"/>
        </a:defRPr>
      </a:lvl2pPr>
    </p:titleStyle>
    <p:bodyStyle>
      <a:lvl1pPr marL="0" indent="0" algn="l" defTabSz="958383" rtl="0" eaLnBrk="1" latinLnBrk="0" hangingPunct="1">
        <a:lnSpc>
          <a:spcPct val="100000"/>
        </a:lnSpc>
        <a:spcBef>
          <a:spcPts val="1800"/>
        </a:spcBef>
        <a:buFontTx/>
        <a:buNone/>
        <a:tabLst>
          <a:tab pos="9504000" algn="r"/>
        </a:tabLst>
        <a:defRPr sz="1100" b="1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58383" rtl="0" eaLnBrk="1" latinLnBrk="0" hangingPunct="1">
        <a:lnSpc>
          <a:spcPct val="100000"/>
        </a:lnSpc>
        <a:spcBef>
          <a:spcPts val="600"/>
        </a:spcBef>
        <a:buFontTx/>
        <a:buNone/>
        <a:tabLst>
          <a:tab pos="9504000" algn="r"/>
        </a:tabLst>
        <a:defRPr sz="110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144000" indent="-144000" algn="l" defTabSz="958383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>
          <a:tab pos="9504000" algn="r"/>
        </a:tabLst>
        <a:defRPr sz="1100" kern="1200" cap="none" baseline="0">
          <a:solidFill>
            <a:schemeClr val="tx1"/>
          </a:solidFill>
          <a:latin typeface="+mn-lt"/>
          <a:ea typeface="+mn-ea"/>
          <a:cs typeface="+mn-cs"/>
        </a:defRPr>
      </a:lvl3pPr>
      <a:lvl4pPr marL="288000" indent="-144000" algn="l" defTabSz="958383" rtl="0" eaLnBrk="1" latinLnBrk="0" hangingPunct="1">
        <a:lnSpc>
          <a:spcPct val="100000"/>
        </a:lnSpc>
        <a:spcBef>
          <a:spcPts val="100"/>
        </a:spcBef>
        <a:buFont typeface="Arial" panose="020B0604020202020204" pitchFamily="34" charset="0"/>
        <a:buChar char="–"/>
        <a:tabLst>
          <a:tab pos="9504000" algn="r"/>
        </a:tabLst>
        <a:defRPr sz="100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432000" indent="-144000" algn="l" defTabSz="958383" rtl="0" eaLnBrk="1" latinLnBrk="0" hangingPunct="1">
        <a:lnSpc>
          <a:spcPct val="100000"/>
        </a:lnSpc>
        <a:spcBef>
          <a:spcPts val="100"/>
        </a:spcBef>
        <a:buFont typeface="Arial" panose="020B0604020202020204" pitchFamily="34" charset="0"/>
        <a:buChar char="&gt;"/>
        <a:tabLst>
          <a:tab pos="9504000" algn="r"/>
        </a:tabLst>
        <a:defRPr sz="1000" kern="1200" cap="none" baseline="0">
          <a:solidFill>
            <a:schemeClr val="tx1"/>
          </a:solidFill>
          <a:latin typeface="+mn-lt"/>
          <a:ea typeface="+mn-ea"/>
          <a:cs typeface="+mn-cs"/>
        </a:defRPr>
      </a:lvl5pPr>
      <a:lvl6pPr marL="2635552" indent="-239596" algn="l" defTabSz="958383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4744" indent="-239596" algn="l" defTabSz="958383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3935" indent="-239596" algn="l" defTabSz="958383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126" indent="-239596" algn="l" defTabSz="958383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838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9191" algn="l" defTabSz="95838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8383" algn="l" defTabSz="95838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7574" algn="l" defTabSz="95838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6765" algn="l" defTabSz="95838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5957" algn="l" defTabSz="95838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5148" algn="l" defTabSz="95838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4339" algn="l" defTabSz="95838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3531" algn="l" defTabSz="958383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70">
          <p15:clr>
            <a:srgbClr val="F26B43"/>
          </p15:clr>
        </p15:guide>
        <p15:guide id="2" pos="157">
          <p15:clr>
            <a:srgbClr val="F26B43"/>
          </p15:clr>
        </p15:guide>
        <p15:guide id="3" pos="6158">
          <p15:clr>
            <a:srgbClr val="F26B43"/>
          </p15:clr>
        </p15:guide>
        <p15:guide id="4" orient="horz" pos="782">
          <p15:clr>
            <a:srgbClr val="F26B43"/>
          </p15:clr>
        </p15:guide>
        <p15:guide id="5" orient="horz" pos="4366">
          <p15:clr>
            <a:srgbClr val="F26B43"/>
          </p15:clr>
        </p15:guide>
        <p15:guide id="6" pos="3164">
          <p15:clr>
            <a:srgbClr val="F26B43"/>
          </p15:clr>
        </p15:guide>
        <p15:guide id="7" pos="3073">
          <p15:clr>
            <a:srgbClr val="F26B43"/>
          </p15:clr>
        </p15:guide>
        <p15:guide id="8" pos="32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6712EB1-E394-46A2-9794-4B1B3ED51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6" imgH="367" progId="TCLayout.ActiveDocument.1">
                  <p:embed/>
                </p:oleObj>
              </mc:Choice>
              <mc:Fallback>
                <p:oleObj name="think-cell Slide" r:id="rId4" imgW="366" imgH="367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6712EB1-E394-46A2-9794-4B1B3ED51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4615C0E-C091-4A06-BBA1-E08385180E0D}"/>
              </a:ext>
            </a:extLst>
          </p:cNvPr>
          <p:cNvGraphicFramePr>
            <a:graphicFrameLocks noGrp="1"/>
          </p:cNvGraphicFramePr>
          <p:nvPr/>
        </p:nvGraphicFramePr>
        <p:xfrm>
          <a:off x="277451" y="3717673"/>
          <a:ext cx="4745400" cy="458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900">
                  <a:extLst>
                    <a:ext uri="{9D8B030D-6E8A-4147-A177-3AD203B41FA5}">
                      <a16:colId xmlns:a16="http://schemas.microsoft.com/office/drawing/2014/main" val="732136078"/>
                    </a:ext>
                  </a:extLst>
                </a:gridCol>
                <a:gridCol w="790900">
                  <a:extLst>
                    <a:ext uri="{9D8B030D-6E8A-4147-A177-3AD203B41FA5}">
                      <a16:colId xmlns:a16="http://schemas.microsoft.com/office/drawing/2014/main" val="1612771437"/>
                    </a:ext>
                  </a:extLst>
                </a:gridCol>
                <a:gridCol w="790900">
                  <a:extLst>
                    <a:ext uri="{9D8B030D-6E8A-4147-A177-3AD203B41FA5}">
                      <a16:colId xmlns:a16="http://schemas.microsoft.com/office/drawing/2014/main" val="2251682236"/>
                    </a:ext>
                  </a:extLst>
                </a:gridCol>
                <a:gridCol w="790900">
                  <a:extLst>
                    <a:ext uri="{9D8B030D-6E8A-4147-A177-3AD203B41FA5}">
                      <a16:colId xmlns:a16="http://schemas.microsoft.com/office/drawing/2014/main" val="2508597885"/>
                    </a:ext>
                  </a:extLst>
                </a:gridCol>
              </a:tblGrid>
              <a:tr h="192037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Financials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Cash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Market</a:t>
                      </a:r>
                      <a:endParaRPr lang="en-GB" sz="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Team</a:t>
                      </a:r>
                      <a:endParaRPr lang="en-GB" sz="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chemeClr val="tx1"/>
                          </a:solidFill>
                          <a:latin typeface="+mn-lt"/>
                        </a:rPr>
                        <a:t>Governance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Overall</a:t>
                      </a:r>
                      <a:endParaRPr lang="en-GB" sz="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054">
                <a:tc>
                  <a:txBody>
                    <a:bodyPr/>
                    <a:lstStyle/>
                    <a:p>
                      <a:pPr algn="ctr"/>
                      <a:endParaRPr lang="en-US" sz="8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5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624066"/>
                  </a:ext>
                </a:extLst>
              </a:tr>
            </a:tbl>
          </a:graphicData>
        </a:graphic>
      </p:graphicFrame>
      <p:sp>
        <p:nvSpPr>
          <p:cNvPr id="26" name="Text Box 32">
            <a:extLst>
              <a:ext uri="{FF2B5EF4-FFF2-40B4-BE49-F238E27FC236}">
                <a16:creationId xmlns:a16="http://schemas.microsoft.com/office/drawing/2014/main" id="{F9F7CBA3-8485-4DCC-96FC-C7944CD46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100" y="1168094"/>
            <a:ext cx="4740749" cy="2154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109538" marR="0" lvl="0" indent="-109538" algn="ctr" defTabSz="9583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Investment 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F1E3AA-0F78-4778-B170-DFF4FAEA8F9D}"/>
              </a:ext>
            </a:extLst>
          </p:cNvPr>
          <p:cNvSpPr/>
          <p:nvPr/>
        </p:nvSpPr>
        <p:spPr>
          <a:xfrm>
            <a:off x="1368377" y="3958106"/>
            <a:ext cx="168430" cy="180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E9B387-518D-402E-A8A9-21F81DA68A43}"/>
              </a:ext>
            </a:extLst>
          </p:cNvPr>
          <p:cNvSpPr/>
          <p:nvPr/>
        </p:nvSpPr>
        <p:spPr>
          <a:xfrm>
            <a:off x="2934649" y="3958106"/>
            <a:ext cx="168430" cy="180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00B202-688E-4DF1-9617-779F9C1F3E3D}"/>
              </a:ext>
            </a:extLst>
          </p:cNvPr>
          <p:cNvSpPr/>
          <p:nvPr/>
        </p:nvSpPr>
        <p:spPr>
          <a:xfrm>
            <a:off x="3705086" y="3958106"/>
            <a:ext cx="168430" cy="180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C8DF96-76EE-4864-B218-8CA76F72386C}"/>
              </a:ext>
            </a:extLst>
          </p:cNvPr>
          <p:cNvSpPr txBox="1"/>
          <p:nvPr/>
        </p:nvSpPr>
        <p:spPr>
          <a:xfrm>
            <a:off x="246633" y="1379897"/>
            <a:ext cx="4732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/>
            </a:pPr>
            <a:r>
              <a:rPr lang="en-GB" sz="800" noProof="1">
                <a:cs typeface="Calibri" pitchFamily="34" charset="0"/>
              </a:rPr>
              <a:t>Villain, founded in Prague in 2018, provides cloud-based project management, time tracking, and invoicing software tailored for small and medium-sized trades’ businesses. The platform aims to streamline administrative tasks by helping companies efficiently manage projects, track employee hours, and automate invoicing processes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E91D0D-292B-4219-8C58-54F870D695C5}"/>
              </a:ext>
            </a:extLst>
          </p:cNvPr>
          <p:cNvSpPr txBox="1"/>
          <p:nvPr/>
        </p:nvSpPr>
        <p:spPr>
          <a:xfrm>
            <a:off x="7239001" y="572414"/>
            <a:ext cx="253585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000" dirty="0"/>
              <a:t>Founded 2019</a:t>
            </a:r>
          </a:p>
          <a:p>
            <a:pPr algn="r"/>
            <a:r>
              <a:rPr lang="en-GB" sz="1000" dirty="0"/>
              <a:t>                              Prague, Czech Republic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DB8B732-DF72-4CA8-95BE-2DD3B1E82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032510"/>
              </p:ext>
            </p:extLst>
          </p:nvPr>
        </p:nvGraphicFramePr>
        <p:xfrm>
          <a:off x="277450" y="1957148"/>
          <a:ext cx="4783984" cy="1630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318">
                  <a:extLst>
                    <a:ext uri="{9D8B030D-6E8A-4147-A177-3AD203B41FA5}">
                      <a16:colId xmlns:a16="http://schemas.microsoft.com/office/drawing/2014/main" val="1843902790"/>
                    </a:ext>
                  </a:extLst>
                </a:gridCol>
                <a:gridCol w="363020">
                  <a:extLst>
                    <a:ext uri="{9D8B030D-6E8A-4147-A177-3AD203B41FA5}">
                      <a16:colId xmlns:a16="http://schemas.microsoft.com/office/drawing/2014/main" val="2312142939"/>
                    </a:ext>
                  </a:extLst>
                </a:gridCol>
                <a:gridCol w="393385">
                  <a:extLst>
                    <a:ext uri="{9D8B030D-6E8A-4147-A177-3AD203B41FA5}">
                      <a16:colId xmlns:a16="http://schemas.microsoft.com/office/drawing/2014/main" val="2307797327"/>
                    </a:ext>
                  </a:extLst>
                </a:gridCol>
                <a:gridCol w="355226">
                  <a:extLst>
                    <a:ext uri="{9D8B030D-6E8A-4147-A177-3AD203B41FA5}">
                      <a16:colId xmlns:a16="http://schemas.microsoft.com/office/drawing/2014/main" val="2784857315"/>
                    </a:ext>
                  </a:extLst>
                </a:gridCol>
                <a:gridCol w="218007">
                  <a:extLst>
                    <a:ext uri="{9D8B030D-6E8A-4147-A177-3AD203B41FA5}">
                      <a16:colId xmlns:a16="http://schemas.microsoft.com/office/drawing/2014/main" val="3895298063"/>
                    </a:ext>
                  </a:extLst>
                </a:gridCol>
                <a:gridCol w="174198">
                  <a:extLst>
                    <a:ext uri="{9D8B030D-6E8A-4147-A177-3AD203B41FA5}">
                      <a16:colId xmlns:a16="http://schemas.microsoft.com/office/drawing/2014/main" val="3287977939"/>
                    </a:ext>
                  </a:extLst>
                </a:gridCol>
                <a:gridCol w="203248">
                  <a:extLst>
                    <a:ext uri="{9D8B030D-6E8A-4147-A177-3AD203B41FA5}">
                      <a16:colId xmlns:a16="http://schemas.microsoft.com/office/drawing/2014/main" val="949611726"/>
                    </a:ext>
                  </a:extLst>
                </a:gridCol>
                <a:gridCol w="386828">
                  <a:extLst>
                    <a:ext uri="{9D8B030D-6E8A-4147-A177-3AD203B41FA5}">
                      <a16:colId xmlns:a16="http://schemas.microsoft.com/office/drawing/2014/main" val="4205029849"/>
                    </a:ext>
                  </a:extLst>
                </a:gridCol>
                <a:gridCol w="360254">
                  <a:extLst>
                    <a:ext uri="{9D8B030D-6E8A-4147-A177-3AD203B41FA5}">
                      <a16:colId xmlns:a16="http://schemas.microsoft.com/office/drawing/2014/main" val="1923777968"/>
                    </a:ext>
                  </a:extLst>
                </a:gridCol>
                <a:gridCol w="101900">
                  <a:extLst>
                    <a:ext uri="{9D8B030D-6E8A-4147-A177-3AD203B41FA5}">
                      <a16:colId xmlns:a16="http://schemas.microsoft.com/office/drawing/2014/main" val="100009723"/>
                    </a:ext>
                  </a:extLst>
                </a:gridCol>
                <a:gridCol w="553789">
                  <a:extLst>
                    <a:ext uri="{9D8B030D-6E8A-4147-A177-3AD203B41FA5}">
                      <a16:colId xmlns:a16="http://schemas.microsoft.com/office/drawing/2014/main" val="1141889078"/>
                    </a:ext>
                  </a:extLst>
                </a:gridCol>
              </a:tblGrid>
              <a:tr h="167754">
                <a:tc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</a:rPr>
                        <a:t>ERVE investment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lang="en-US" sz="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Break-down by round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r>
                        <a:rPr lang="en-US" sz="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Break-down by round</a:t>
                      </a:r>
                      <a:endParaRPr lang="en-GB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Apr-21 – Series B £12.0m</a:t>
                      </a:r>
                      <a:endParaRPr lang="en-GB" sz="8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Apr-21 – Series B £12.0m</a:t>
                      </a:r>
                      <a:endParaRPr lang="en-GB" sz="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Apr-21 – Series B £12.0m</a:t>
                      </a:r>
                      <a:endParaRPr lang="en-GB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GB" sz="800" b="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8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Apr-21 – Series B £12.0m</a:t>
                      </a:r>
                      <a:endParaRPr lang="en-GB" sz="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800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754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Total raised</a:t>
                      </a: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1">
                  <a:txBody>
                    <a:bodyPr/>
                    <a:lstStyle/>
                    <a:p>
                      <a:endParaRPr lang="en-GB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5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 kern="120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730979"/>
                  </a:ext>
                </a:extLst>
              </a:tr>
              <a:tr h="167754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ERVE %</a:t>
                      </a: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</a:rPr>
                        <a:t>Security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 sz="800" b="0" dirty="0">
                          <a:solidFill>
                            <a:schemeClr val="tx1"/>
                          </a:solidFill>
                          <a:latin typeface="+mn-lt"/>
                        </a:rPr>
                        <a:t>Senior Straight Preferred shares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r>
                        <a:rPr lang="en-GB" sz="800" b="0" dirty="0">
                          <a:solidFill>
                            <a:schemeClr val="tx1"/>
                          </a:solidFill>
                          <a:latin typeface="+mn-lt"/>
                        </a:rPr>
                        <a:t>.</a:t>
                      </a:r>
                      <a:endParaRPr lang="en-GB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50" b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051532"/>
                  </a:ext>
                </a:extLst>
              </a:tr>
              <a:tr h="273223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Other shareholders</a:t>
                      </a: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1">
                  <a:txBody>
                    <a:bodyPr/>
                    <a:lstStyle/>
                    <a:p>
                      <a:endParaRPr lang="en-GB" sz="800" noProof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5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800"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444559"/>
                  </a:ext>
                </a:extLst>
              </a:tr>
              <a:tr h="167754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Governance</a:t>
                      </a: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1">
                  <a:txBody>
                    <a:bodyPr/>
                    <a:lstStyle/>
                    <a:p>
                      <a:pPr marL="0" marR="0" lvl="0" indent="0" algn="l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50" b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 marL="36000" marR="36000" marT="36000" marB="36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792840"/>
                  </a:ext>
                </a:extLst>
              </a:tr>
              <a:tr h="167754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Cash</a:t>
                      </a: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800" b="0" kern="1200">
                          <a:solidFill>
                            <a:srgbClr val="707372"/>
                          </a:solidFill>
                          <a:latin typeface="+mn-lt"/>
                          <a:ea typeface="+mn-ea"/>
                          <a:cs typeface="+mn-cs"/>
                        </a:rPr>
                        <a:t>Monthly burn</a:t>
                      </a:r>
                      <a:endParaRPr lang="en-GB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Monthly burn</a:t>
                      </a:r>
                      <a:endParaRPr lang="en-US" sz="85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£(0.3)m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£(0.3)m</a:t>
                      </a:r>
                      <a:endParaRPr lang="en-GB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GB" sz="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£(0.3)m</a:t>
                      </a:r>
                      <a:endParaRPr lang="en-GB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FUME</a:t>
                      </a:r>
                      <a:endParaRPr lang="en-GB" baseline="30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baseline="300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578560"/>
                  </a:ext>
                </a:extLst>
              </a:tr>
              <a:tr h="167754">
                <a:tc gridSpan="4">
                  <a:txBody>
                    <a:bodyPr/>
                    <a:lstStyle/>
                    <a:p>
                      <a:pPr marL="0" algn="l" defTabSz="958383" rtl="0" eaLnBrk="1" latinLnBrk="0" hangingPunct="1"/>
                      <a:r>
                        <a:rPr lang="en-GB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 pre-/post-money valuation</a:t>
                      </a:r>
                      <a:endParaRPr lang="en-GB" sz="800" b="0" kern="1200" baseline="30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l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 dirty="0"/>
                    </a:p>
                  </a:txBody>
                  <a:tcPr marL="72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9608"/>
                  </a:ext>
                </a:extLst>
              </a:tr>
              <a:tr h="167754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Q4-25 NAV</a:t>
                      </a:r>
                    </a:p>
                  </a:txBody>
                  <a:tcPr marL="72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Q3-25 NAV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0" algn="l" defTabSz="958383" rtl="0" eaLnBrk="1" latinLnBrk="0" hangingPunct="1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/ (Decrease)</a:t>
                      </a:r>
                      <a:endParaRPr lang="en-US" sz="800" kern="1200" baseline="30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l" defTabSz="958383" rtl="0" eaLnBrk="1" latinLnBrk="0" hangingPunct="1"/>
                      <a:endParaRPr lang="en-US" sz="800" kern="1200" baseline="30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sz="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No Change</a:t>
                      </a: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6060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51D019-5215-4892-BD51-454EC2794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584572"/>
              </p:ext>
            </p:extLst>
          </p:nvPr>
        </p:nvGraphicFramePr>
        <p:xfrm>
          <a:off x="299249" y="4225586"/>
          <a:ext cx="4675725" cy="1493520"/>
        </p:xfrm>
        <a:graphic>
          <a:graphicData uri="http://schemas.openxmlformats.org/drawingml/2006/table">
            <a:tbl>
              <a:tblPr/>
              <a:tblGrid>
                <a:gridCol w="737443">
                  <a:extLst>
                    <a:ext uri="{9D8B030D-6E8A-4147-A177-3AD203B41FA5}">
                      <a16:colId xmlns:a16="http://schemas.microsoft.com/office/drawing/2014/main" val="2748695815"/>
                    </a:ext>
                  </a:extLst>
                </a:gridCol>
                <a:gridCol w="487682">
                  <a:extLst>
                    <a:ext uri="{9D8B030D-6E8A-4147-A177-3AD203B41FA5}">
                      <a16:colId xmlns:a16="http://schemas.microsoft.com/office/drawing/2014/main" val="192973670"/>
                    </a:ext>
                  </a:extLst>
                </a:gridCol>
                <a:gridCol w="487682">
                  <a:extLst>
                    <a:ext uri="{9D8B030D-6E8A-4147-A177-3AD203B41FA5}">
                      <a16:colId xmlns:a16="http://schemas.microsoft.com/office/drawing/2014/main" val="2918559069"/>
                    </a:ext>
                  </a:extLst>
                </a:gridCol>
                <a:gridCol w="487682">
                  <a:extLst>
                    <a:ext uri="{9D8B030D-6E8A-4147-A177-3AD203B41FA5}">
                      <a16:colId xmlns:a16="http://schemas.microsoft.com/office/drawing/2014/main" val="3182093255"/>
                    </a:ext>
                  </a:extLst>
                </a:gridCol>
                <a:gridCol w="487682">
                  <a:extLst>
                    <a:ext uri="{9D8B030D-6E8A-4147-A177-3AD203B41FA5}">
                      <a16:colId xmlns:a16="http://schemas.microsoft.com/office/drawing/2014/main" val="1516606232"/>
                    </a:ext>
                  </a:extLst>
                </a:gridCol>
                <a:gridCol w="487682">
                  <a:extLst>
                    <a:ext uri="{9D8B030D-6E8A-4147-A177-3AD203B41FA5}">
                      <a16:colId xmlns:a16="http://schemas.microsoft.com/office/drawing/2014/main" val="32894765"/>
                    </a:ext>
                  </a:extLst>
                </a:gridCol>
                <a:gridCol w="487682">
                  <a:extLst>
                    <a:ext uri="{9D8B030D-6E8A-4147-A177-3AD203B41FA5}">
                      <a16:colId xmlns:a16="http://schemas.microsoft.com/office/drawing/2014/main" val="2344772085"/>
                    </a:ext>
                  </a:extLst>
                </a:gridCol>
                <a:gridCol w="506095">
                  <a:extLst>
                    <a:ext uri="{9D8B030D-6E8A-4147-A177-3AD203B41FA5}">
                      <a16:colId xmlns:a16="http://schemas.microsoft.com/office/drawing/2014/main" val="1643722511"/>
                    </a:ext>
                  </a:extLst>
                </a:gridCol>
                <a:gridCol w="506095">
                  <a:extLst>
                    <a:ext uri="{9D8B030D-6E8A-4147-A177-3AD203B41FA5}">
                      <a16:colId xmlns:a16="http://schemas.microsoft.com/office/drawing/2014/main" val="1677877798"/>
                    </a:ext>
                  </a:extLst>
                </a:gridCol>
              </a:tblGrid>
              <a:tr h="196694">
                <a:tc>
                  <a:txBody>
                    <a:bodyPr/>
                    <a:lstStyle/>
                    <a:p>
                      <a:pPr marL="0" marR="0" lvl="0" indent="0" algn="l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in EUR’m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Quarterly Actuals</a:t>
                      </a:r>
                      <a:endParaRPr lang="en-US" sz="800" b="1" baseline="30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Actual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Actual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Budget</a:t>
                      </a:r>
                      <a:endParaRPr lang="en-US" sz="800" b="1" baseline="30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640327"/>
                  </a:ext>
                </a:extLst>
              </a:tr>
              <a:tr h="196694">
                <a:tc>
                  <a:txBody>
                    <a:bodyPr/>
                    <a:lstStyle/>
                    <a:p>
                      <a:pPr algn="l"/>
                      <a:r>
                        <a:rPr lang="en-US" sz="800" b="1" i="1" dirty="0">
                          <a:solidFill>
                            <a:schemeClr val="tx1"/>
                          </a:solidFill>
                          <a:latin typeface="+mn-lt"/>
                        </a:rPr>
                        <a:t>YE 31st Dec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Dec-24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Mar-25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Jun-25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Sep-25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LTM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FY23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FY24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FY25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570879"/>
                  </a:ext>
                </a:extLst>
              </a:tr>
              <a:tr h="196694">
                <a:tc>
                  <a:txBody>
                    <a:bodyPr/>
                    <a:lstStyle/>
                    <a:p>
                      <a:pPr algn="l"/>
                      <a:r>
                        <a:rPr lang="en-GB" sz="800" b="0" dirty="0">
                          <a:solidFill>
                            <a:schemeClr val="tx1"/>
                          </a:solidFill>
                          <a:latin typeface="+mn-lt"/>
                        </a:rPr>
                        <a:t>ARR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857444"/>
                  </a:ext>
                </a:extLst>
              </a:tr>
              <a:tr h="196694">
                <a:tc>
                  <a:txBody>
                    <a:bodyPr/>
                    <a:lstStyle/>
                    <a:p>
                      <a:pPr algn="l"/>
                      <a:r>
                        <a:rPr lang="en-GB" sz="800" b="0" dirty="0">
                          <a:solidFill>
                            <a:schemeClr val="tx1"/>
                          </a:solidFill>
                          <a:latin typeface="+mn-lt"/>
                        </a:rPr>
                        <a:t>Revenue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469182"/>
                  </a:ext>
                </a:extLst>
              </a:tr>
              <a:tr h="196694">
                <a:tc>
                  <a:txBody>
                    <a:bodyPr/>
                    <a:lstStyle/>
                    <a:p>
                      <a:pPr algn="l"/>
                      <a:r>
                        <a:rPr lang="en-GB" sz="800" b="0" dirty="0">
                          <a:solidFill>
                            <a:schemeClr val="tx1"/>
                          </a:solidFill>
                          <a:latin typeface="+mn-lt"/>
                        </a:rPr>
                        <a:t>GM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62244"/>
                  </a:ext>
                </a:extLst>
              </a:tr>
              <a:tr h="196694">
                <a:tc>
                  <a:txBody>
                    <a:bodyPr/>
                    <a:lstStyle/>
                    <a:p>
                      <a:pPr algn="l"/>
                      <a:r>
                        <a:rPr lang="en-GB" sz="800" b="0" dirty="0">
                          <a:solidFill>
                            <a:schemeClr val="tx1"/>
                          </a:solidFill>
                          <a:latin typeface="+mn-lt"/>
                        </a:rPr>
                        <a:t>EBITDA</a:t>
                      </a:r>
                      <a:endParaRPr lang="en-GB" sz="800" b="0" baseline="30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61830"/>
                  </a:ext>
                </a:extLst>
              </a:tr>
              <a:tr h="196694">
                <a:tc>
                  <a:txBody>
                    <a:bodyPr/>
                    <a:lstStyle/>
                    <a:p>
                      <a:pPr algn="l"/>
                      <a:r>
                        <a:rPr lang="en-GB" sz="800" b="0" dirty="0">
                          <a:solidFill>
                            <a:schemeClr val="tx1"/>
                          </a:solidFill>
                          <a:latin typeface="+mn-lt"/>
                        </a:rPr>
                        <a:t>FTEs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fontAlgn="b" latinLnBrk="0" hangingPunct="1"/>
                      <a:endParaRPr lang="en-US" sz="8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820201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7131BB2E-976C-4B61-B2F2-9D15D79A1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757766"/>
              </p:ext>
            </p:extLst>
          </p:nvPr>
        </p:nvGraphicFramePr>
        <p:xfrm>
          <a:off x="299249" y="5792199"/>
          <a:ext cx="4675724" cy="1522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325">
                  <a:extLst>
                    <a:ext uri="{9D8B030D-6E8A-4147-A177-3AD203B41FA5}">
                      <a16:colId xmlns:a16="http://schemas.microsoft.com/office/drawing/2014/main" val="333776558"/>
                    </a:ext>
                  </a:extLst>
                </a:gridCol>
                <a:gridCol w="640124">
                  <a:extLst>
                    <a:ext uri="{9D8B030D-6E8A-4147-A177-3AD203B41FA5}">
                      <a16:colId xmlns:a16="http://schemas.microsoft.com/office/drawing/2014/main" val="1626168475"/>
                    </a:ext>
                  </a:extLst>
                </a:gridCol>
                <a:gridCol w="554293">
                  <a:extLst>
                    <a:ext uri="{9D8B030D-6E8A-4147-A177-3AD203B41FA5}">
                      <a16:colId xmlns:a16="http://schemas.microsoft.com/office/drawing/2014/main" val="925556209"/>
                    </a:ext>
                  </a:extLst>
                </a:gridCol>
                <a:gridCol w="352680">
                  <a:extLst>
                    <a:ext uri="{9D8B030D-6E8A-4147-A177-3AD203B41FA5}">
                      <a16:colId xmlns:a16="http://schemas.microsoft.com/office/drawing/2014/main" val="3905573444"/>
                    </a:ext>
                  </a:extLst>
                </a:gridCol>
                <a:gridCol w="2415302">
                  <a:extLst>
                    <a:ext uri="{9D8B030D-6E8A-4147-A177-3AD203B41FA5}">
                      <a16:colId xmlns:a16="http://schemas.microsoft.com/office/drawing/2014/main" val="1371736118"/>
                    </a:ext>
                  </a:extLst>
                </a:gridCol>
              </a:tblGrid>
              <a:tr h="26358">
                <a:tc gridSpan="5">
                  <a:txBody>
                    <a:bodyPr/>
                    <a:lstStyle/>
                    <a:p>
                      <a:pPr algn="l"/>
                      <a:endParaRPr lang="en-GB" sz="1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800" b="1">
                        <a:latin typeface="+mn-lt"/>
                      </a:endParaRPr>
                    </a:p>
                  </a:txBody>
                  <a:tcPr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b="1">
                        <a:latin typeface="+mn-lt"/>
                      </a:endParaRPr>
                    </a:p>
                  </a:txBody>
                  <a:tcPr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800" b="1">
                        <a:latin typeface="+mn-lt"/>
                      </a:endParaRPr>
                    </a:p>
                  </a:txBody>
                  <a:tcPr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 b="1">
                        <a:latin typeface="+mn-lt"/>
                      </a:endParaRPr>
                    </a:p>
                  </a:txBody>
                  <a:tcPr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361255"/>
                  </a:ext>
                </a:extLst>
              </a:tr>
              <a:tr h="141981">
                <a:tc>
                  <a:txBody>
                    <a:bodyPr/>
                    <a:lstStyle/>
                    <a:p>
                      <a:pPr algn="l"/>
                      <a:r>
                        <a:rPr lang="en-GB" sz="800" b="1" dirty="0">
                          <a:solidFill>
                            <a:schemeClr val="tx1"/>
                          </a:solidFill>
                          <a:latin typeface="+mn-lt"/>
                        </a:rPr>
                        <a:t>Exit case</a:t>
                      </a: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chemeClr val="tx1"/>
                          </a:solidFill>
                          <a:latin typeface="+mn-lt"/>
                        </a:rPr>
                        <a:t>EV/Exit</a:t>
                      </a: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chemeClr val="tx1"/>
                          </a:solidFill>
                          <a:latin typeface="+mn-lt"/>
                        </a:rPr>
                        <a:t>MOIC</a:t>
                      </a: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>
                          <a:solidFill>
                            <a:schemeClr val="tx1"/>
                          </a:solidFill>
                          <a:latin typeface="+mn-lt"/>
                        </a:rPr>
                        <a:t>IRR</a:t>
                      </a: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1" dirty="0">
                          <a:solidFill>
                            <a:schemeClr val="tx1"/>
                          </a:solidFill>
                          <a:latin typeface="+mn-lt"/>
                        </a:rPr>
                        <a:t>Key</a:t>
                      </a:r>
                      <a:r>
                        <a:rPr lang="en-GB" sz="8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factors</a:t>
                      </a:r>
                      <a:endParaRPr lang="en-GB" sz="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988097"/>
                  </a:ext>
                </a:extLst>
              </a:tr>
              <a:tr h="231246"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</a:rPr>
                        <a:t>High (20%)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</a:rPr>
                        <a:t>€1.25bn</a:t>
                      </a:r>
                    </a:p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</a:rPr>
                        <a:t>(2031)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</a:rPr>
                        <a:t>5.4x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</a:rPr>
                        <a:t>29%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</a:rPr>
                        <a:t>Breaks away as tradesmen software leader and successfully expands ACVs by adding new products. Exits at 9x multiple of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</a:rPr>
                        <a:t>€140m ARR</a:t>
                      </a:r>
                      <a:endParaRPr lang="en-GB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985196"/>
                  </a:ext>
                </a:extLst>
              </a:tr>
              <a:tr h="245479">
                <a:tc>
                  <a:txBody>
                    <a:bodyPr/>
                    <a:lstStyle/>
                    <a:p>
                      <a:pPr marL="0" algn="l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Base (60%)</a:t>
                      </a:r>
                    </a:p>
                  </a:txBody>
                  <a:tcPr marL="72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€600m</a:t>
                      </a:r>
                    </a:p>
                    <a:p>
                      <a:pPr marL="0" algn="ctr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(2030)</a:t>
                      </a:r>
                    </a:p>
                  </a:txBody>
                  <a:tcPr marL="72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3.3x</a:t>
                      </a:r>
                    </a:p>
                  </a:txBody>
                  <a:tcPr marL="72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24%</a:t>
                      </a:r>
                    </a:p>
                  </a:txBody>
                  <a:tcPr marL="72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</a:rPr>
                        <a:t>Sustains growth in the SMB segment in DACH. Scales to 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latin typeface="+mn-lt"/>
                        </a:rPr>
                        <a:t>€</a:t>
                      </a:r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</a:rPr>
                        <a:t>80m ARR and is acquired at 7.5x mult.</a:t>
                      </a:r>
                    </a:p>
                  </a:txBody>
                  <a:tcPr marL="72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313908"/>
                  </a:ext>
                </a:extLst>
              </a:tr>
              <a:tr h="245479">
                <a:tc>
                  <a:txBody>
                    <a:bodyPr/>
                    <a:lstStyle/>
                    <a:p>
                      <a:pPr marL="0" algn="l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Low (20%)</a:t>
                      </a:r>
                    </a:p>
                  </a:txBody>
                  <a:tcPr marL="72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€50m</a:t>
                      </a:r>
                    </a:p>
                    <a:p>
                      <a:pPr marL="0" algn="ctr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(2027)</a:t>
                      </a:r>
                    </a:p>
                  </a:txBody>
                  <a:tcPr marL="72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1.0x</a:t>
                      </a:r>
                    </a:p>
                  </a:txBody>
                  <a:tcPr marL="72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72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58383" rtl="0" eaLnBrk="1" latinLnBrk="0" hangingPunct="1"/>
                      <a:r>
                        <a:rPr lang="en-GB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Growth taps out at €15m ARR. ERVE recoups initial investment via preference shares</a:t>
                      </a:r>
                    </a:p>
                  </a:txBody>
                  <a:tcPr marL="72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668610"/>
                  </a:ext>
                </a:extLst>
              </a:tr>
              <a:tr h="158147">
                <a:tc gridSpan="2">
                  <a:txBody>
                    <a:bodyPr/>
                    <a:lstStyle/>
                    <a:p>
                      <a:pPr marL="0" algn="l" defTabSz="958383" rtl="0" eaLnBrk="1" latinLnBrk="0" hangingPunct="1"/>
                      <a:r>
                        <a:rPr lang="en-GB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Blended exp. Return</a:t>
                      </a:r>
                      <a:endParaRPr lang="en-GB" sz="800" b="1" kern="1200" baseline="30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58383" rtl="0" eaLnBrk="1" latinLnBrk="0" hangingPunct="1"/>
                      <a:endParaRPr lang="en-GB" sz="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latinLnBrk="0" hangingPunct="1"/>
                      <a:r>
                        <a:rPr lang="en-GB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3.5x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58383" rtl="0" eaLnBrk="1" latinLnBrk="0" hangingPunct="1"/>
                      <a:r>
                        <a:rPr lang="en-GB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23%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58383" rtl="0" eaLnBrk="1" latinLnBrk="0" hangingPunct="1"/>
                      <a:r>
                        <a:rPr lang="en-GB" sz="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€81.1m expected total proceeds, all in Invt. Ccy</a:t>
                      </a:r>
                      <a:endParaRPr lang="en-GB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180240"/>
                  </a:ext>
                </a:extLst>
              </a:tr>
            </a:tbl>
          </a:graphicData>
        </a:graphic>
      </p:graphicFrame>
      <p:sp>
        <p:nvSpPr>
          <p:cNvPr id="44" name="Title 1">
            <a:extLst>
              <a:ext uri="{FF2B5EF4-FFF2-40B4-BE49-F238E27FC236}">
                <a16:creationId xmlns:a16="http://schemas.microsoft.com/office/drawing/2014/main" id="{9EDCE16C-757D-4AF0-9E0A-0663304AF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49" y="449857"/>
            <a:ext cx="7717746" cy="594000"/>
          </a:xfrm>
        </p:spPr>
        <p:txBody>
          <a:bodyPr vert="horz"/>
          <a:lstStyle/>
          <a:p>
            <a:r>
              <a:rPr lang="en-GB" noProof="1"/>
              <a:t>Villain is a SaaS platform for tradesmen SMEs</a:t>
            </a:r>
            <a:br>
              <a:rPr lang="en-GB" noProof="1"/>
            </a:br>
            <a:r>
              <a:rPr lang="en-GB" sz="1200" b="1" noProof="1"/>
              <a:t>Proposed NAV valuation Q4-25: </a:t>
            </a:r>
            <a:r>
              <a:rPr lang="en-US" sz="1200" b="1" dirty="0"/>
              <a:t>€</a:t>
            </a:r>
            <a:r>
              <a:rPr lang="en-GB" sz="1200" b="1" noProof="1"/>
              <a:t>19.0m / $21.9m (Q3-25: </a:t>
            </a:r>
            <a:r>
              <a:rPr lang="en-US" sz="1200" b="1" dirty="0"/>
              <a:t>€</a:t>
            </a:r>
            <a:r>
              <a:rPr lang="en-GB" sz="1200" b="1" noProof="1"/>
              <a:t>19.0m / $22.3m)</a:t>
            </a:r>
            <a:endParaRPr lang="en-GB" sz="1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393DFB-73A2-8806-C16B-88C097D6CEE2}"/>
              </a:ext>
            </a:extLst>
          </p:cNvPr>
          <p:cNvSpPr/>
          <p:nvPr/>
        </p:nvSpPr>
        <p:spPr>
          <a:xfrm>
            <a:off x="592416" y="3956942"/>
            <a:ext cx="168430" cy="180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38423-7155-E933-868A-E54D92AD8087}"/>
              </a:ext>
            </a:extLst>
          </p:cNvPr>
          <p:cNvSpPr/>
          <p:nvPr/>
        </p:nvSpPr>
        <p:spPr>
          <a:xfrm>
            <a:off x="2148991" y="3949963"/>
            <a:ext cx="168430" cy="180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9A695F-5AC4-4C40-A41A-65A39359770A}"/>
              </a:ext>
            </a:extLst>
          </p:cNvPr>
          <p:cNvSpPr/>
          <p:nvPr/>
        </p:nvSpPr>
        <p:spPr>
          <a:xfrm>
            <a:off x="4529223" y="3949963"/>
            <a:ext cx="168430" cy="180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BED8F1-1363-C8DA-872A-9323967CD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222813"/>
              </p:ext>
            </p:extLst>
          </p:nvPr>
        </p:nvGraphicFramePr>
        <p:xfrm>
          <a:off x="5197530" y="1163424"/>
          <a:ext cx="4602273" cy="27602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02273">
                  <a:extLst>
                    <a:ext uri="{9D8B030D-6E8A-4147-A177-3AD203B41FA5}">
                      <a16:colId xmlns:a16="http://schemas.microsoft.com/office/drawing/2014/main" val="1029199757"/>
                    </a:ext>
                  </a:extLst>
                </a:gridCol>
              </a:tblGrid>
              <a:tr h="205159">
                <a:tc>
                  <a:txBody>
                    <a:bodyPr/>
                    <a:lstStyle/>
                    <a:p>
                      <a:pPr marL="109538" marR="0" lvl="0" indent="-109538" algn="ctr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Company update</a:t>
                      </a:r>
                    </a:p>
                  </a:txBody>
                  <a:tcPr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6925">
                <a:tc>
                  <a:txBody>
                    <a:bodyPr/>
                    <a:lstStyle/>
                    <a:p>
                      <a:pPr marL="0" marR="0" lvl="0" indent="0" algn="l" defTabSz="958383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GB" sz="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itchFamily="34" charset="0"/>
                      </a:endParaRPr>
                    </a:p>
                  </a:txBody>
                  <a:tcPr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61278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8A16640-C6DA-6BDF-55DC-6E72BCBF3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38429"/>
              </p:ext>
            </p:extLst>
          </p:nvPr>
        </p:nvGraphicFramePr>
        <p:xfrm>
          <a:off x="5197531" y="3970593"/>
          <a:ext cx="4664917" cy="28081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64917">
                  <a:extLst>
                    <a:ext uri="{9D8B030D-6E8A-4147-A177-3AD203B41FA5}">
                      <a16:colId xmlns:a16="http://schemas.microsoft.com/office/drawing/2014/main" val="1029199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58383" rtl="0" eaLnBrk="1" latinLnBrk="0" hangingPunct="1"/>
                      <a:r>
                        <a:rPr lang="en-GB" sz="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Investment valuation</a:t>
                      </a:r>
                    </a:p>
                  </a:txBody>
                  <a:tcPr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7379">
                <a:tc>
                  <a:txBody>
                    <a:bodyPr/>
                    <a:lstStyle/>
                    <a:p>
                      <a:pPr>
                        <a:spcBef>
                          <a:spcPts val="329"/>
                        </a:spcBef>
                        <a:buClr>
                          <a:schemeClr val="tx1"/>
                        </a:buClr>
                      </a:pPr>
                      <a:endParaRPr lang="en-GB" sz="800" b="1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spcBef>
                          <a:spcPts val="329"/>
                        </a:spcBef>
                        <a:buClr>
                          <a:schemeClr val="tx1"/>
                        </a:buClr>
                      </a:pPr>
                      <a:endParaRPr lang="en-GB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761278"/>
                  </a:ext>
                </a:extLst>
              </a:tr>
              <a:tr h="1297379">
                <a:tc>
                  <a:txBody>
                    <a:bodyPr/>
                    <a:lstStyle/>
                    <a:p>
                      <a:pPr>
                        <a:spcBef>
                          <a:spcPts val="329"/>
                        </a:spcBef>
                        <a:buClr>
                          <a:schemeClr val="tx1"/>
                        </a:buClr>
                      </a:pPr>
                      <a:endParaRPr lang="en-GB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95057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4E1DDDD-6F65-91A0-1815-5703917AC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01137"/>
              </p:ext>
            </p:extLst>
          </p:nvPr>
        </p:nvGraphicFramePr>
        <p:xfrm>
          <a:off x="5228390" y="4664963"/>
          <a:ext cx="4634058" cy="2253185"/>
        </p:xfrm>
        <a:graphic>
          <a:graphicData uri="http://schemas.openxmlformats.org/drawingml/2006/table">
            <a:tbl>
              <a:tblPr/>
              <a:tblGrid>
                <a:gridCol w="2146974">
                  <a:extLst>
                    <a:ext uri="{9D8B030D-6E8A-4147-A177-3AD203B41FA5}">
                      <a16:colId xmlns:a16="http://schemas.microsoft.com/office/drawing/2014/main" val="864121489"/>
                    </a:ext>
                  </a:extLst>
                </a:gridCol>
                <a:gridCol w="829028">
                  <a:extLst>
                    <a:ext uri="{9D8B030D-6E8A-4147-A177-3AD203B41FA5}">
                      <a16:colId xmlns:a16="http://schemas.microsoft.com/office/drawing/2014/main" val="1607701457"/>
                    </a:ext>
                  </a:extLst>
                </a:gridCol>
                <a:gridCol w="829028">
                  <a:extLst>
                    <a:ext uri="{9D8B030D-6E8A-4147-A177-3AD203B41FA5}">
                      <a16:colId xmlns:a16="http://schemas.microsoft.com/office/drawing/2014/main" val="1296401361"/>
                    </a:ext>
                  </a:extLst>
                </a:gridCol>
                <a:gridCol w="829028">
                  <a:extLst>
                    <a:ext uri="{9D8B030D-6E8A-4147-A177-3AD203B41FA5}">
                      <a16:colId xmlns:a16="http://schemas.microsoft.com/office/drawing/2014/main" val="4274395080"/>
                    </a:ext>
                  </a:extLst>
                </a:gridCol>
              </a:tblGrid>
              <a:tr h="186011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Comps-based valuation waterfall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Q4-25 NAV</a:t>
                      </a:r>
                      <a:endParaRPr lang="en-GB" sz="1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b="1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Q3-25 NAV</a:t>
                      </a:r>
                      <a:endParaRPr lang="en-GB" sz="1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b="1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Q2-25 NAV</a:t>
                      </a:r>
                      <a:endParaRPr lang="en-GB" sz="1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514507"/>
                  </a:ext>
                </a:extLst>
              </a:tr>
              <a:tr h="165046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Comparable EV/Rev Multiple pre-discount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334041"/>
                  </a:ext>
                </a:extLst>
              </a:tr>
              <a:tr h="165046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ARR (€m) (Oct/Jun/Mar) 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532850"/>
                  </a:ext>
                </a:extLst>
              </a:tr>
              <a:tr h="165046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Enterprise value pre-discount (€m)</a:t>
                      </a:r>
                      <a:endParaRPr lang="en-GB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959211"/>
                  </a:ext>
                </a:extLst>
              </a:tr>
              <a:tr h="165046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Discount rate applied to multiple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217800"/>
                  </a:ext>
                </a:extLst>
              </a:tr>
              <a:tr h="165046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Enterprise value after discount (€m)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158521"/>
                  </a:ext>
                </a:extLst>
              </a:tr>
              <a:tr h="165046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Cash (€m) (Oct/Jun/Mar)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086721"/>
                  </a:ext>
                </a:extLst>
              </a:tr>
              <a:tr h="165046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Equity value (€m)</a:t>
                      </a:r>
                      <a:endParaRPr lang="en-GB" sz="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134105"/>
                  </a:ext>
                </a:extLst>
              </a:tr>
              <a:tr h="165046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ERVE ownership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67718"/>
                  </a:ext>
                </a:extLst>
              </a:tr>
              <a:tr h="165046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Comps-based value of ERVE equity (€m)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8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9" marR="72009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422995"/>
                  </a:ext>
                </a:extLst>
              </a:tr>
              <a:tr h="189007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Methodology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123822"/>
                  </a:ext>
                </a:extLst>
              </a:tr>
              <a:tr h="189007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Valuation (EUR’m)</a:t>
                      </a:r>
                    </a:p>
                  </a:txBody>
                  <a:tcPr marL="72000" marR="72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7949"/>
                  </a:ext>
                </a:extLst>
              </a:tr>
              <a:tr h="189007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  <a:latin typeface="+mn-lt"/>
                        </a:rPr>
                        <a:t>Implied multiple </a:t>
                      </a:r>
                      <a:r>
                        <a:rPr lang="en-US" sz="750" dirty="0">
                          <a:solidFill>
                            <a:schemeClr val="tx1"/>
                          </a:solidFill>
                          <a:latin typeface="+mn-lt"/>
                        </a:rPr>
                        <a:t>(pre-money /ARR)</a:t>
                      </a:r>
                    </a:p>
                  </a:txBody>
                  <a:tcPr marL="72000" marR="72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431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8695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21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ight Roads">
  <a:themeElements>
    <a:clrScheme name="8 roads final">
      <a:dk1>
        <a:srgbClr val="707372"/>
      </a:dk1>
      <a:lt1>
        <a:sysClr val="window" lastClr="FFFFFF"/>
      </a:lt1>
      <a:dk2>
        <a:srgbClr val="FFAC59"/>
      </a:dk2>
      <a:lt2>
        <a:srgbClr val="535E7E"/>
      </a:lt2>
      <a:accent1>
        <a:srgbClr val="7991A6"/>
      </a:accent1>
      <a:accent2>
        <a:srgbClr val="A2978A"/>
      </a:accent2>
      <a:accent3>
        <a:srgbClr val="6ABAB1"/>
      </a:accent3>
      <a:accent4>
        <a:srgbClr val="AD4C45"/>
      </a:accent4>
      <a:accent5>
        <a:srgbClr val="819C79"/>
      </a:accent5>
      <a:accent6>
        <a:srgbClr val="977580"/>
      </a:accent6>
      <a:hlink>
        <a:srgbClr val="535E7E"/>
      </a:hlink>
      <a:folHlink>
        <a:srgbClr val="3D857D"/>
      </a:folHlink>
    </a:clrScheme>
    <a:fontScheme name="Eight Road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 w="12700">
          <a:noFill/>
        </a:ln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spAutoFit/>
      </a:bodyPr>
      <a:lstStyle>
        <a:defPPr algn="ctr">
          <a:defRPr sz="1100" b="1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2">
              <a:lumMod val="60000"/>
              <a:lumOff val="4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6A59BDAA3051478109A660C50323F6" ma:contentTypeVersion="14" ma:contentTypeDescription="Create a new document." ma:contentTypeScope="" ma:versionID="f67b3911cc4d68b74a2edce8ad786a73">
  <xsd:schema xmlns:xsd="http://www.w3.org/2001/XMLSchema" xmlns:xs="http://www.w3.org/2001/XMLSchema" xmlns:p="http://schemas.microsoft.com/office/2006/metadata/properties" xmlns:ns3="3664d214-e0c4-47d9-9d62-d9512e042ffe" xmlns:ns4="4c9ca327-e4d0-4e9d-8982-6bf9e2185a68" targetNamespace="http://schemas.microsoft.com/office/2006/metadata/properties" ma:root="true" ma:fieldsID="6ac19d7e6a1cdbecd0c8bb7eafe36708" ns3:_="" ns4:_="">
    <xsd:import namespace="3664d214-e0c4-47d9-9d62-d9512e042ffe"/>
    <xsd:import namespace="4c9ca327-e4d0-4e9d-8982-6bf9e2185a6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4d214-e0c4-47d9-9d62-d9512e042ff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9ca327-e4d0-4e9d-8982-6bf9e2185a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768593A-8476-444F-8878-B8C12B2FC8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4d214-e0c4-47d9-9d62-d9512e042ffe"/>
    <ds:schemaRef ds:uri="4c9ca327-e4d0-4e9d-8982-6bf9e2185a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2F7936-9937-482D-B9DD-7951DFBCBB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73D945-FB78-4B68-BA4F-AB4756DF640B}">
  <ds:schemaRefs>
    <ds:schemaRef ds:uri="3664d214-e0c4-47d9-9d62-d9512e042ffe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4c9ca327-e4d0-4e9d-8982-6bf9e2185a68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8 Roads Word</Template>
  <TotalTime>335739</TotalTime>
  <Words>363</Words>
  <Application>Microsoft Office PowerPoint</Application>
  <PresentationFormat>Custom</PresentationFormat>
  <Paragraphs>91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Georgia</vt:lpstr>
      <vt:lpstr>Eight Roads</vt:lpstr>
      <vt:lpstr>think-cell Slide</vt:lpstr>
      <vt:lpstr>Villain is a SaaS platform for tradesmen SMEs Proposed NAV valuation Q4-25: €19.0m / $21.9m (Q3-25: €19.0m / $22.3m)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ERVE – NAV Materials</dc:title>
  <dc:creator>Patel, Varsha</dc:creator>
  <cp:lastModifiedBy>Ansari, Aqil</cp:lastModifiedBy>
  <cp:revision>6741</cp:revision>
  <cp:lastPrinted>2023-12-19T21:51:48Z</cp:lastPrinted>
  <dcterms:created xsi:type="dcterms:W3CDTF">2015-10-27T10:58:19Z</dcterms:created>
  <dcterms:modified xsi:type="dcterms:W3CDTF">2026-01-22T09:38:10Z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0x010100DF6A59BDAA3051478109A660C50323F6</vt:lpwstr>
  </property>
</Properties>
</file>